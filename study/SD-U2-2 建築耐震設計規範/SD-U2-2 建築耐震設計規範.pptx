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</p:sldIdLst>
  <p:notesMasterIdLst>
    <p:notesMasterId r:id="rId3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notesMaster" Target="notesMasters/notesMaster1.xml"/><Relationship Id="rId33" Type="http://schemas.openxmlformats.org/officeDocument/2006/relationships/presProps" Target="presProps.xml"/><Relationship Id="rId34" Type="http://schemas.openxmlformats.org/officeDocument/2006/relationships/viewProps" Target="viewProps.xml"/><Relationship Id="rId35" Type="http://schemas.openxmlformats.org/officeDocument/2006/relationships/theme" Target="theme/theme1.xml"/><Relationship Id="rId3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image" Target="../media/image-13-2.png"/><Relationship Id="rId3" Type="http://schemas.openxmlformats.org/officeDocument/2006/relationships/image" Target="../media/image-13-3.png"/><Relationship Id="rId4" Type="http://schemas.openxmlformats.org/officeDocument/2006/relationships/image" Target="../media/image-1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image" Target="../media/image-16-2.png"/><Relationship Id="rId3" Type="http://schemas.openxmlformats.org/officeDocument/2006/relationships/image" Target="../media/image-16-3.png"/><Relationship Id="rId4" Type="http://schemas.openxmlformats.org/officeDocument/2006/relationships/image" Target="../media/image-1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image" Target="../media/image-2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13" Type="http://schemas.openxmlformats.org/officeDocument/2006/relationships/image" Target="../media/image-27-13.png"/><Relationship Id="rId14" Type="http://schemas.openxmlformats.org/officeDocument/2006/relationships/image" Target="../media/image-27-14.png"/><Relationship Id="rId15" Type="http://schemas.openxmlformats.org/officeDocument/2006/relationships/image" Target="../media/image-27-15.png"/><Relationship Id="rId16" Type="http://schemas.openxmlformats.org/officeDocument/2006/relationships/image" Target="../media/image-27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14" Type="http://schemas.openxmlformats.org/officeDocument/2006/relationships/image" Target="../media/image-28-14.png"/><Relationship Id="rId15" Type="http://schemas.openxmlformats.org/officeDocument/2006/relationships/image" Target="../media/image-28-15.png"/><Relationship Id="rId16" Type="http://schemas.openxmlformats.org/officeDocument/2006/relationships/image" Target="../media/image-28-16.png"/><Relationship Id="rId17" Type="http://schemas.openxmlformats.org/officeDocument/2006/relationships/slideLayout" Target="../slideLayouts/slideLayout1.xml"/><Relationship Id="rId18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2A41"/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-1188720"/>
            <a:ext cx="2926080" cy="2926080"/>
          </a:xfrm>
          <a:prstGeom prst="ellipse">
            <a:avLst/>
          </a:prstGeom>
          <a:solidFill>
            <a:srgbClr val="4C6B8A">
              <a:alpha val="40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11064240" y="-457200"/>
            <a:ext cx="1463040" cy="1463040"/>
          </a:xfrm>
          <a:prstGeom prst="ellipse">
            <a:avLst/>
          </a:prstGeom>
          <a:solidFill>
            <a:srgbClr val="E8734A">
              <a:alpha val="8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00584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SD-U2-2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640080" y="1463040"/>
            <a:ext cx="1033272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建築耐震設計規範</a:t>
            </a:r>
            <a:endParaRPr lang="en-US" sz="4200" dirty="0"/>
          </a:p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需求 ÷ 供給的一道除法</a:t>
            </a:r>
            <a:endParaRPr lang="en-US" sz="4200" dirty="0"/>
          </a:p>
        </p:txBody>
      </p:sp>
      <p:sp>
        <p:nvSpPr>
          <p:cNvPr id="7" name="Text 5"/>
          <p:cNvSpPr/>
          <p:nvPr/>
        </p:nvSpPr>
        <p:spPr>
          <a:xfrm>
            <a:off x="640080" y="3703320"/>
            <a:ext cx="9875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從工址譜參數到樓層側力：五步驟 SOP、三條路徑、三道檢核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0080" y="4617720"/>
            <a:ext cx="4937760" cy="457200"/>
          </a:xfrm>
          <a:prstGeom prst="roundRect">
            <a:avLst>
              <a:gd name="adj" fmla="val 16000"/>
            </a:avLst>
          </a:prstGeom>
          <a:solidFill>
            <a:srgbClr val="E8734A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4617720"/>
            <a:ext cx="49377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觀念講義｜30 頁 + 11 張向量圖解 + 5 題微型例題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6309360"/>
            <a:ext cx="9144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 結構動力學｜U2-2 建築耐震設計規範｜觀念講義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THE MAP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這個單元只講四件事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22960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一道除法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22960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= 需求 ÷ 供給。分子是自然界（用途、工址譜、重量），分母是人為控制（1.4、超強度、韌性）。先看懂這個骨架，所有條文都會歸位。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6254496" y="16916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10528" y="19476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1" name="Text 9"/>
          <p:cNvSpPr/>
          <p:nvPr/>
        </p:nvSpPr>
        <p:spPr>
          <a:xfrm>
            <a:off x="6510528" y="19476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6528816" y="25603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需求側怎麼來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6528816" y="29718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震區係數 → 地盤放大 → 工址譜 SDS / SD1 → 轉角週期 T₀ᴰ → 由結構週期 T 決定落在反應譜的哪一段。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48640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16" name="Text 14"/>
          <p:cNvSpPr/>
          <p:nvPr/>
        </p:nvSpPr>
        <p:spPr>
          <a:xfrm>
            <a:off x="804672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22960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供給側能折多少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822960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→ Rₐ → Fᵤ（等位移 / 等能量兩條法則）→ 修正係數 (SaD/Fᵤ)ₘ → 1.4αy。這一串決定你能把地震力打幾折。</a:t>
            </a:r>
            <a:endParaRPr lang="en-US" sz="1250" dirty="0"/>
          </a:p>
        </p:txBody>
      </p:sp>
      <p:sp>
        <p:nvSpPr>
          <p:cNvPr id="19" name="Shape 17"/>
          <p:cNvSpPr/>
          <p:nvPr/>
        </p:nvSpPr>
        <p:spPr>
          <a:xfrm>
            <a:off x="6254496" y="4206240"/>
            <a:ext cx="5385816" cy="2194560"/>
          </a:xfrm>
          <a:prstGeom prst="roundRect">
            <a:avLst>
              <a:gd name="adj" fmla="val 3750"/>
            </a:avLst>
          </a:prstGeom>
          <a:solidFill>
            <a:srgbClr val="F4F6F9"/>
          </a:solidFill>
          <a:ln/>
          <a:effectLst>
            <a:outerShdw sx="100000" sy="100000" kx="0" ky="0" algn="bl" rotWithShape="0" blurRad="76200" dist="25400" dir="5400000">
              <a:srgbClr val="1B2A41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510528" y="4462272"/>
            <a:ext cx="457200" cy="457200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21" name="Text 19"/>
          <p:cNvSpPr/>
          <p:nvPr/>
        </p:nvSpPr>
        <p:spPr>
          <a:xfrm>
            <a:off x="6510528" y="446227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28816" y="5074920"/>
            <a:ext cx="4837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算完之後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6528816" y="5486400"/>
            <a:ext cx="4837176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五步驟 SOP 求 V → Fₜ → Fᵢ → M₀；再加三道獨立檢核：層間位移角、極限層剪力強度、意外扭矩。</a:t>
            </a:r>
            <a:endParaRPr lang="en-US" sz="12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BIG IDEA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底層邏輯：V 是一道除法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規範不是要把地震「算準」，而是把算不準的需求，除以你管得住的供給。V 之所以看起來小得不合理，是因為它已經假設結構會壞了。</a:t>
            </a:r>
            <a:endParaRPr lang="en-US" sz="1100" dirty="0"/>
          </a:p>
        </p:txBody>
      </p:sp>
      <p:pic>
        <p:nvPicPr>
          <p:cNvPr id="6" name="Image 0" descr="svg/d1 設計地震力的底層邏輯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1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 的骨架與工址譜參數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設計地震力（式 2-3）</a:t>
            </a:r>
            <a:endParaRPr lang="en-US" sz="1300" dirty="0"/>
          </a:p>
        </p:txBody>
      </p:sp>
      <p:pic>
        <p:nvPicPr>
          <p:cNvPr id="7" name="Image 0" descr="formula_imgs/f1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47369" y="1847088"/>
            <a:ext cx="2009983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工址譜加速度係數（式 2-4-1/2）</a:t>
            </a:r>
            <a:endParaRPr lang="en-US" sz="1300" dirty="0"/>
          </a:p>
        </p:txBody>
      </p:sp>
      <p:pic>
        <p:nvPicPr>
          <p:cNvPr id="11" name="Image 1" descr="formula_imgs/f1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10500" y="2962656"/>
            <a:ext cx="4683720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轉角週期（式 2-6-1/2）</a:t>
            </a:r>
            <a:endParaRPr lang="en-US" sz="1300" dirty="0"/>
          </a:p>
        </p:txBody>
      </p:sp>
      <p:pic>
        <p:nvPicPr>
          <p:cNvPr id="15" name="Image 2" descr="formula_imgs/f1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64521" y="4078224"/>
            <a:ext cx="2375677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容許韌性容量（式 2-10）</a:t>
            </a:r>
            <a:endParaRPr lang="en-US" sz="1300" dirty="0"/>
          </a:p>
        </p:txBody>
      </p:sp>
      <p:pic>
        <p:nvPicPr>
          <p:cNvPr id="19" name="Image 3" descr="formula_imgs/f1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32823" y="5193792"/>
            <a:ext cx="3439074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αy 為起始降伏地震力放大倍數（未做非線性分析時保守取 1.0）；I 依建築物用途類別為 1.0 / 1.25 / 1.5。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THREE LEVELS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三水準地震、三個性能目標、三條路徑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同一棟樓要算三次：中小度（30 年、IO）、設計（475 年、LS）、最大考量（2500 年、CP）。三條路徑取最大者控制。</a:t>
            </a:r>
            <a:endParaRPr lang="en-US" sz="1100" dirty="0"/>
          </a:p>
        </p:txBody>
      </p:sp>
      <p:pic>
        <p:nvPicPr>
          <p:cNvPr id="6" name="Image 0" descr="svg/d2 三水準地震與三條路徑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另外兩條路徑與那條判準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中小度地震（式 2-13a/b）</a:t>
            </a:r>
            <a:endParaRPr lang="en-US" sz="1300" dirty="0"/>
          </a:p>
        </p:txBody>
      </p:sp>
      <p:pic>
        <p:nvPicPr>
          <p:cNvPr id="7" name="Image 0" descr="formula_imgs/f2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15266" y="1847088"/>
            <a:ext cx="2074189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最大考量地震（式 2-13c）</a:t>
            </a:r>
            <a:endParaRPr lang="en-US" sz="1300" dirty="0"/>
          </a:p>
        </p:txBody>
      </p:sp>
      <p:pic>
        <p:nvPicPr>
          <p:cNvPr id="11" name="Image 1" descr="formula_imgs/f2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1261" y="2962656"/>
            <a:ext cx="2202198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誰控制？</a:t>
            </a:r>
            <a:endParaRPr lang="en-US" sz="1300" dirty="0"/>
          </a:p>
        </p:txBody>
      </p:sp>
      <p:pic>
        <p:nvPicPr>
          <p:cNvPr id="15" name="Image 2" descr="formula_imgs/f2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48200" y="4078224"/>
            <a:ext cx="3208320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最大考量的折減係數</a:t>
            </a:r>
            <a:endParaRPr lang="en-US" sz="1300" dirty="0"/>
          </a:p>
        </p:txBody>
      </p:sp>
      <p:pic>
        <p:nvPicPr>
          <p:cNvPr id="19" name="Image 3" descr="formula_imgs/f2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79545" y="5193792"/>
            <a:ext cx="474562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V* 的分子帶著 Fᵤ —— 這是整個單元最容易被忽略的細節：韌性越好，中小度地震的要求反而越高。K 為地區係數（臺北市／新北市 3.5，其餘 4.2）。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66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工址譜參數：從震區係數到轉角週期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6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2529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臺中市西屯區、一般工址、第二類地盤；查表 2-1 得 SSᴰ = 0.80、S₁ᴰ = 0.45、SSᴹ = 1.00、S₁ᴹ = 0.55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查工址放大係數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第二類地盤：SSᴰ = 0.80 → Fₐᴰ = 1.00（表中確值，不必內插）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S₁ᴰ = 0.45 → Fᵥᴰ = 1.20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提醒：Fₐ 管短週期段的高度，Fᵥ 管中長週期段 —— 地盤越軟 Fᵥ 越大。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0216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算設計地震的工址譜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SDS = Fₐᴰ · SSᴰ = 1.00 × 0.80 = 0.800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SD1 = Fᵥᴰ · S₁ᴰ = 1.20 × 0.45 = 0.540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算最大考量地震的工址譜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Fₐᴹ = 1.00、Fᵥᴹ = 1.10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SMS = 1.000、SM1 = 0.605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注意：Fᵥ 隨 S₁ 增大而遞減（表 2-3），所以 S₁ᴹ 較大反而配到較小的 Fᵥᴹ。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轉角週期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T₀ᴰ = SD1 / SDS = 0.540 / 0.800 = 0.6750 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T₀ᴹ = SM1 / SMS = 0.605 / 1.000 = 0.6050 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兩者不同 → 兩條路徑的分段點不同，不可混用。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1675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167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SDS = 0.800、SD1 = 0.540、T₀ᴰ = 0.6750 s；SMS = 1.000、SM1 = 0.605、T₀ᴹ = 0.6050 s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DEMAND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設計反應譜 SaD 的四段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地盤放大係數決定平台的高度與寬度，結構週期決定你落在哪一段。臺北盆地的 T₀ᴰ 由微分區直接查表，不由 SD1/SDS 推算。</a:t>
            </a:r>
            <a:endParaRPr lang="en-US" sz="1100" dirty="0"/>
          </a:p>
        </p:txBody>
      </p:sp>
      <p:pic>
        <p:nvPicPr>
          <p:cNvPr id="6" name="Image 0" descr="svg/d3 設計反應譜的四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基本振動週期與反應譜分段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經驗公式（式 2-7 ~ 2-9）</a:t>
            </a:r>
            <a:endParaRPr lang="en-US" sz="1300" dirty="0"/>
          </a:p>
        </p:txBody>
      </p:sp>
      <p:pic>
        <p:nvPicPr>
          <p:cNvPr id="7" name="Image 0" descr="formula_imgs/f3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47357" y="1847088"/>
            <a:ext cx="6010007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1.4 倍上限（2.6 節）</a:t>
            </a:r>
            <a:endParaRPr lang="en-US" sz="1300" dirty="0"/>
          </a:p>
        </p:txBody>
      </p:sp>
      <p:pic>
        <p:nvPicPr>
          <p:cNvPr id="11" name="Image 1" descr="formula_imgs/f3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34818" y="2962656"/>
            <a:ext cx="4035083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反應譜第 ① 段</a:t>
            </a:r>
            <a:endParaRPr lang="en-US" sz="1300" dirty="0"/>
          </a:p>
        </p:txBody>
      </p:sp>
      <p:pic>
        <p:nvPicPr>
          <p:cNvPr id="15" name="Image 2" descr="formula_imgs/f3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7871" y="4078224"/>
            <a:ext cx="5748979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② / ③ / ④ 段</a:t>
            </a:r>
            <a:endParaRPr lang="en-US" sz="1300" dirty="0"/>
          </a:p>
        </p:txBody>
      </p:sp>
      <p:pic>
        <p:nvPicPr>
          <p:cNvPr id="19" name="Image 3" descr="formula_imgs/f3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02073" y="5193792"/>
            <a:ext cx="2900573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Cₜ 依結構系統：鋼造抗彎矩構架 0.085、RC／SRC 抗彎矩構架及偏心斜撐 0.070、其他 0.050。動力分析的 T 不得超過經驗值的 1.4 倍。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PERIOD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週期 T 的三條路線與 1.4 倍天花板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把梁柱斷面折減得越多、T 就越長、地震力就越小 —— 規範用 1.4 倍上限堵住這條路。T 錯一步，SaD 與 Fᵤ 的段位全錯。</a:t>
            </a:r>
            <a:endParaRPr lang="en-US" sz="1100" dirty="0"/>
          </a:p>
        </p:txBody>
      </p:sp>
      <p:pic>
        <p:nvPicPr>
          <p:cNvPr id="6" name="Image 0" descr="svg/d4 週期與1.4倍上限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66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週期與反應譜段位：1.4 倍上限的實際效果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6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2529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三層 RC 特殊抗彎矩構架，樓高 3.5 m × 3 → hₙ = 10.5 m；動力分析（特徵值解）得 T₁ = 0.7465 s；承例題① T₀ᴰ = 0.6750 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經驗公式（式 2-8）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 抗彎矩構架 → Cₜ = 0.070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經驗值 T = 0.070 × 10.5^(3/4) = 0.070 × 5.8330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0.4083 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0216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規範上限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上限值 = 1.4 × 經驗值 = 1.4 × 0.4083 = 0.5716 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動力分析值 0.7465 s &gt; 0.5716 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採用 T = 0.5716 s（被壓回）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判段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0.2T₀ᴰ = 0.1350　T₀ᴰ = 0.6750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0.1350 &lt; T = 0.5716 ≤ 0.6750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落在第 ② 段（等加速度平台）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取值與後果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SaD = SDS = 0.800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若誤用動力值 0.7465 s → 落到第 ③ 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SaD = SD1/T = 0.7234，少算 9.6%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—— 這一步是本題最大的失分點。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1675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167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0.5716 s（受 1.4 倍上限控制）→ 落在等加速度平台段 → SaD = 0.800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DUCTILITY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Fᵤ 的兩條推導法則：等位移 vs 等能量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長週期用等位移（Fᵤ = Rₐ），中短週期用等能量（Fᵤ = √(2Rₐ−1)）。同一個 Rₐ 下等能量算出的 Fᵤ 較小 → 設計力較大，中短週期較保守。</a:t>
            </a:r>
            <a:endParaRPr lang="en-US" sz="1100" dirty="0"/>
          </a:p>
        </p:txBody>
      </p:sp>
      <p:pic>
        <p:nvPicPr>
          <p:cNvPr id="6" name="Image 0" descr="svg/d5 Fu的兩條推導法則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4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Fᵤ 的四段（式 2-12）與兩條法則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長週期段（等位移）</a:t>
            </a:r>
            <a:endParaRPr lang="en-US" sz="1300" dirty="0"/>
          </a:p>
        </p:txBody>
      </p:sp>
      <p:pic>
        <p:nvPicPr>
          <p:cNvPr id="7" name="Image 0" descr="formula_imgs/f4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31325" y="1847088"/>
            <a:ext cx="304207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中短週期定值段（等能量）</a:t>
            </a:r>
            <a:endParaRPr lang="en-US" sz="1300" dirty="0"/>
          </a:p>
        </p:txBody>
      </p:sp>
      <p:pic>
        <p:nvPicPr>
          <p:cNvPr id="11" name="Image 1" descr="formula_imgs/f4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75604" y="2962656"/>
            <a:ext cx="5353511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過渡段（線性內插）</a:t>
            </a:r>
            <a:endParaRPr lang="en-US" sz="1300" dirty="0"/>
          </a:p>
        </p:txBody>
      </p:sp>
      <p:pic>
        <p:nvPicPr>
          <p:cNvPr id="15" name="Image 2" descr="formula_imgs/f4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6738" y="4078224"/>
            <a:ext cx="3751243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等能量法則的推導</a:t>
            </a:r>
            <a:endParaRPr lang="en-US" sz="1300" dirty="0"/>
          </a:p>
        </p:txBody>
      </p:sp>
      <p:pic>
        <p:nvPicPr>
          <p:cNvPr id="19" name="Image 3" descr="formula_imgs/f4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6726" y="5193792"/>
            <a:ext cx="5251269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&lt; 0.2T₀ᴰ 時再由 √(2Rₐ−1) 線性降到 1（極短週期沒有位移可以消能）。最大考量地震以 R 取代 Rₐ、以 T₀ᴹ 取代 T₀ᴰ。</a:t>
            </a:r>
            <a:endParaRPr lang="en-US" sz="12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DUCTILITY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Fᵤ 隨週期的四段曲線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是「結構系統韌性容量」（查表 1-3 的定值），Fᵤ 是「在這個週期下你真的折得掉多少」—— 兩者不是同一件事。</a:t>
            </a:r>
            <a:endParaRPr lang="en-US" sz="1100" dirty="0"/>
          </a:p>
        </p:txBody>
      </p:sp>
      <p:pic>
        <p:nvPicPr>
          <p:cNvPr id="6" name="Image 0" descr="svg/d6 Fu隨週期的四段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66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Rₐ 與 Fᵤ：落在內插段怎麼算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6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2529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RC 特殊抗彎矩構架（表 1-3）R = 4.8，無高度限制；承例題② T = 0.5716 s、T₀ᴰ = 0.6750 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容許韌性容量（式 2-10）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Rₐ = 1 + (R − 1)/1.5 = 1 + (4.8 − 1)/1.5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3.5333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注意：Rₐ 永遠小於 R —— 設計地震只讓你用「打折過的韌性」。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0216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判段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0.2T₀ᴰ = 0.1350　0.6T₀ᴰ = 0.4050　T₀ᴰ = 0.6750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0.4050 ≤ T = 0.5716 &lt; 0.6750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落在第 ③ 段（線性內插）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內插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√(2Rₐ − 1) = √6.0667 = 2.4631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內插比例 = (T − 0.6T₀ᴰ)/(0.4T₀ᴰ) = 0.6172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Fᵤ = 2.4631 + (3.5333 − 2.4631) × 0.6172 = 3.1236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最大考量地震的 FuM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改用 R = 4.8、T₀ᴹ = 0.6050 s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0.6T₀ᴹ = 0.3630 ≤ T &lt; 0.6050 → 同樣是內插段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√(2R − 1) = 2.9326 → FuM = 4.5425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1675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167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= 4.8 → Rₐ = 3.5333 → Fᵤ = 3.1236（設計地震）；FuM = 4.5425（最大考量地震）</a:t>
            </a:r>
            <a:endParaRPr lang="en-US" sz="13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5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修正係數 (SaD/Fᵤ)ₘ 與折減倍率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① 段：不修正</a:t>
            </a:r>
            <a:endParaRPr lang="en-US" sz="1300" dirty="0"/>
          </a:p>
        </p:txBody>
      </p:sp>
      <p:pic>
        <p:nvPicPr>
          <p:cNvPr id="7" name="Image 0" descr="formula_imgs/f5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20690" y="1847088"/>
            <a:ext cx="286334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② 段：過渡</a:t>
            </a:r>
            <a:endParaRPr lang="en-US" sz="1300" dirty="0"/>
          </a:p>
        </p:txBody>
      </p:sp>
      <p:pic>
        <p:nvPicPr>
          <p:cNvPr id="11" name="Image 1" descr="formula_imgs/f5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84097" y="2962656"/>
            <a:ext cx="2736526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第 ③ 段：打七折</a:t>
            </a:r>
            <a:endParaRPr lang="en-US" sz="1300" dirty="0"/>
          </a:p>
        </p:txBody>
      </p:sp>
      <p:pic>
        <p:nvPicPr>
          <p:cNvPr id="15" name="Image 2" descr="formula_imgs/f5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807107" y="4078224"/>
            <a:ext cx="3290505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與彈性需求的倍率</a:t>
            </a:r>
            <a:endParaRPr lang="en-US" sz="1300" dirty="0"/>
          </a:p>
        </p:txBody>
      </p:sp>
      <p:pic>
        <p:nvPicPr>
          <p:cNvPr id="19" name="Image 3" descr="formula_imgs/f5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842346" y="5193792"/>
            <a:ext cx="3220028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0.3 與 0.8 是兩個硬分界。最大考量地震的 (SaM/FuM)ₘ 用同一組三段式（式 2-13d）。</a:t>
            </a:r>
            <a:endParaRPr lang="en-US" sz="1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CALIBRATION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修正譜加速度反應譜係數的三段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這是規範把「設計反應譜 × 韌性折減」與實際震害資料對齊的校準步驟 —— 最常被考生整段跳過。</a:t>
            </a:r>
            <a:endParaRPr lang="en-US" sz="1100" dirty="0"/>
          </a:p>
        </p:txBody>
      </p:sp>
      <p:pic>
        <p:nvPicPr>
          <p:cNvPr id="6" name="Image 0" descr="svg/d7 修正譜加速度係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66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三條路徑：誰控制設計？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6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2529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I = 1.0（第四類建築物）、αy = 1.0、K = 4.2（非臺北市／新北市）、ΣW = 294.20 tf；承前 SaD = 0.800、Fᵤ = 3.1236、SaM = 1.000、FuM = 4.5425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修正係數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SaD/Fᵤ = 0.800 / 3.1236 = 0.2561 ≤ 0.3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(SaD/Fᵤ)ₘ = 0.2561（不修正）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SaM/FuM = 0.2201 ≤ 0.3 → 同樣不修正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0216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路徑 A：設計地震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= I/(1.4αy) × (SaD/Fᵤ)ₘ × W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1/(1.4 × 1.0) × 0.2561 × 294.20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53.82 tf　（V/W = 0.1829）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路徑 B / C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VM = 1/(1.4 × 1.0) × 0.2201 × 294.20 = 46.26 tf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V* = I·Fᵤ/(K·αy) × (SaD/Fᵤ)ₘ × W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3.1236/4.2 × 0.2561 × 294.20 = 56.04 tf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取控制值與自檢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max(53.82, 46.26, 56.04) = 56.04 tf → 由中小度地震控制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判準驗算：V*/V = 1.4Fᵤ/K = 1.4 × 3.1236/4.2 = 1.0412 &gt; 1 ✓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V/W = 0.1905，落在 0.10 ~ 0.25 合理帶內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1675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167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= 56.04 tf、V/W = 0.1905，由路徑 C（中小度地震）控制 —— 因為 Fᵤ = 3.124 &gt; K/1.4 = 3.0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WHO CONTROLS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V*/V = 1.4Fᵤ / K 這一條判準線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K = 4.2 時臨界 Fᵤ = 3.0（對應 R ≈ 4.0）；臺北市／新北市 K = 3.5 時臨界 Fᵤ = 2.5（對應 R ≈ 3.25）。看到高韌性系統就要先懷疑中小度地震控制。</a:t>
            </a:r>
            <a:endParaRPr lang="en-US" sz="1100" dirty="0"/>
          </a:p>
        </p:txBody>
      </p:sp>
      <p:pic>
        <p:nvPicPr>
          <p:cNvPr id="6" name="Image 0" descr="svg/d8 三條路徑與控制判準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56032"/>
            <a:ext cx="7315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SOP</a:t>
            </a:r>
            <a:endParaRPr lang="en-US" sz="1200" dirty="0"/>
          </a:p>
        </p:txBody>
      </p:sp>
      <p:sp>
        <p:nvSpPr>
          <p:cNvPr id="3" name="Shape 1"/>
          <p:cNvSpPr/>
          <p:nvPr/>
        </p:nvSpPr>
        <p:spPr>
          <a:xfrm>
            <a:off x="502920" y="530352"/>
            <a:ext cx="566928" cy="566928"/>
          </a:xfrm>
          <a:prstGeom prst="ellipse">
            <a:avLst/>
          </a:prstGeom>
          <a:solidFill>
            <a:srgbClr val="1B2A41"/>
          </a:solidFill>
          <a:ln/>
        </p:spPr>
      </p:sp>
      <p:sp>
        <p:nvSpPr>
          <p:cNvPr id="4" name="Text 2"/>
          <p:cNvSpPr/>
          <p:nvPr/>
        </p:nvSpPr>
        <p:spPr>
          <a:xfrm>
            <a:off x="502920" y="5303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2000" dirty="0"/>
          </a:p>
        </p:txBody>
      </p:sp>
      <p:sp>
        <p:nvSpPr>
          <p:cNvPr id="5" name="Text 3"/>
          <p:cNvSpPr/>
          <p:nvPr/>
        </p:nvSpPr>
        <p:spPr>
          <a:xfrm>
            <a:off x="1234440" y="475488"/>
            <a:ext cx="8412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等效靜力法的五步驟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1234440" y="960120"/>
            <a:ext cx="8412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從工址資料到樓層側力與基底彎矩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9601200" y="502920"/>
            <a:ext cx="20848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計算題骨幹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02920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1B2A41"/>
          </a:solidFill>
          <a:ln/>
        </p:spPr>
      </p:sp>
      <p:sp>
        <p:nvSpPr>
          <p:cNvPr id="9" name="Text 7"/>
          <p:cNvSpPr/>
          <p:nvPr/>
        </p:nvSpPr>
        <p:spPr>
          <a:xfrm>
            <a:off x="630936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 SSᴰ / S₁ᴰ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查 Fₐ / Fᵥ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362706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1" name="Text 9"/>
          <p:cNvSpPr/>
          <p:nvPr/>
        </p:nvSpPr>
        <p:spPr>
          <a:xfrm>
            <a:off x="3490722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SDS、SD1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T₀ᴰ = SD1/SDS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222492" y="1481328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FF0E4"/>
          </a:solidFill>
          <a:ln/>
        </p:spPr>
      </p:sp>
      <p:sp>
        <p:nvSpPr>
          <p:cNvPr id="13" name="Text 11"/>
          <p:cNvSpPr/>
          <p:nvPr/>
        </p:nvSpPr>
        <p:spPr>
          <a:xfrm>
            <a:off x="6332220" y="1481328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1F7A4D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T：經驗公式 Cₜ hₙ⁰.75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22492" y="193395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15" name="Text 13"/>
          <p:cNvSpPr/>
          <p:nvPr/>
        </p:nvSpPr>
        <p:spPr>
          <a:xfrm>
            <a:off x="6332220" y="193395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動力分析值 ≤ 1.4 倍上限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9082278" y="1481328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17" name="Text 15"/>
          <p:cNvSpPr/>
          <p:nvPr/>
        </p:nvSpPr>
        <p:spPr>
          <a:xfrm>
            <a:off x="9210294" y="1481328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判段 → SaD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9082278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19" name="Text 17"/>
          <p:cNvSpPr/>
          <p:nvPr/>
        </p:nvSpPr>
        <p:spPr>
          <a:xfrm>
            <a:off x="9210294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→ Rₐ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判段 → Fᵤ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222492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F4F6F9"/>
          </a:solidFill>
          <a:ln/>
        </p:spPr>
      </p:sp>
      <p:sp>
        <p:nvSpPr>
          <p:cNvPr id="21" name="Text 19"/>
          <p:cNvSpPr/>
          <p:nvPr/>
        </p:nvSpPr>
        <p:spPr>
          <a:xfrm>
            <a:off x="6350508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(SaD/Fᵤ)ₘ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三段修正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3362706" y="2779776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DCE6F0"/>
          </a:solidFill>
          <a:ln/>
        </p:spPr>
      </p:sp>
      <p:sp>
        <p:nvSpPr>
          <p:cNvPr id="23" name="Text 21"/>
          <p:cNvSpPr/>
          <p:nvPr/>
        </p:nvSpPr>
        <p:spPr>
          <a:xfrm>
            <a:off x="3472434" y="2779776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A：V　B：VM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3362706" y="3232404"/>
            <a:ext cx="2603754" cy="388620"/>
          </a:xfrm>
          <a:prstGeom prst="roundRect">
            <a:avLst>
              <a:gd name="adj" fmla="val 14118"/>
            </a:avLst>
          </a:prstGeom>
          <a:solidFill>
            <a:srgbClr val="FBE1DE"/>
          </a:solidFill>
          <a:ln/>
        </p:spPr>
      </p:sp>
      <p:sp>
        <p:nvSpPr>
          <p:cNvPr id="25" name="Text 23"/>
          <p:cNvSpPr/>
          <p:nvPr/>
        </p:nvSpPr>
        <p:spPr>
          <a:xfrm>
            <a:off x="3472434" y="3232404"/>
            <a:ext cx="2384298" cy="3886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C：V*（分子含 Fᵤ）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502920" y="2779776"/>
            <a:ext cx="2603754" cy="841248"/>
          </a:xfrm>
          <a:prstGeom prst="roundRect">
            <a:avLst>
              <a:gd name="adj" fmla="val 7609"/>
            </a:avLst>
          </a:prstGeom>
          <a:solidFill>
            <a:srgbClr val="E8734A"/>
          </a:solidFill>
          <a:ln/>
        </p:spPr>
      </p:sp>
      <p:sp>
        <p:nvSpPr>
          <p:cNvPr id="27" name="Text 25"/>
          <p:cNvSpPr/>
          <p:nvPr/>
        </p:nvSpPr>
        <p:spPr>
          <a:xfrm>
            <a:off x="630936" y="2779776"/>
            <a:ext cx="234772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取三者最大</a:t>
            </a:r>
            <a:endParaRPr lang="en-US" sz="1200" dirty="0"/>
          </a:p>
          <a:p>
            <a:pPr algn="ctr" indent="0" marL="0">
              <a:lnSpc>
                <a:spcPct val="105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→ 設計 V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3106674" y="1901952"/>
            <a:ext cx="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5966460" y="1901952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5966460" y="1901952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8826246" y="1675638"/>
            <a:ext cx="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8826246" y="2128266"/>
            <a:ext cx="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3" name="Shape 31"/>
          <p:cNvSpPr/>
          <p:nvPr/>
        </p:nvSpPr>
        <p:spPr>
          <a:xfrm>
            <a:off x="10384155" y="2322576"/>
            <a:ext cx="0" cy="45720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082278" y="3200400"/>
            <a:ext cx="-256032" cy="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5" name="Shape 33"/>
          <p:cNvSpPr/>
          <p:nvPr/>
        </p:nvSpPr>
        <p:spPr>
          <a:xfrm>
            <a:off x="6222492" y="3200400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222492" y="3200400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7" name="Shape 35"/>
          <p:cNvSpPr/>
          <p:nvPr/>
        </p:nvSpPr>
        <p:spPr>
          <a:xfrm>
            <a:off x="3362706" y="2974086"/>
            <a:ext cx="-256032" cy="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3362706" y="3426714"/>
            <a:ext cx="-256032" cy="-226314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804797" y="3621024"/>
            <a:ext cx="0" cy="411480"/>
          </a:xfrm>
          <a:prstGeom prst="line">
            <a:avLst/>
          </a:prstGeom>
          <a:noFill/>
          <a:ln w="19050">
            <a:solidFill>
              <a:srgbClr val="5C7A99"/>
            </a:solidFill>
            <a:prstDash val="solid"/>
            <a:tailEnd type="triangle"/>
          </a:ln>
        </p:spPr>
      </p:sp>
      <p:sp>
        <p:nvSpPr>
          <p:cNvPr id="40" name="Shape 38"/>
          <p:cNvSpPr/>
          <p:nvPr/>
        </p:nvSpPr>
        <p:spPr>
          <a:xfrm>
            <a:off x="502920" y="4032504"/>
            <a:ext cx="2603754" cy="749808"/>
          </a:xfrm>
          <a:prstGeom prst="roundRect">
            <a:avLst>
              <a:gd name="adj" fmla="val 9756"/>
            </a:avLst>
          </a:prstGeom>
          <a:solidFill>
            <a:srgbClr val="1E8449"/>
          </a:solidFill>
          <a:ln/>
        </p:spPr>
      </p:sp>
      <p:sp>
        <p:nvSpPr>
          <p:cNvPr id="41" name="Text 39"/>
          <p:cNvSpPr/>
          <p:nvPr/>
        </p:nvSpPr>
        <p:spPr>
          <a:xfrm>
            <a:off x="630936" y="4032504"/>
            <a:ext cx="234772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Fₜ → Fᵢ → Vᵢ → M₀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3380994" y="4032504"/>
            <a:ext cx="8305038" cy="749808"/>
          </a:xfrm>
          <a:prstGeom prst="roundRect">
            <a:avLst>
              <a:gd name="adj" fmla="val 9756"/>
            </a:avLst>
          </a:prstGeom>
          <a:solidFill>
            <a:srgbClr val="FBE1DE"/>
          </a:solidFill>
          <a:ln w="15875">
            <a:solidFill>
              <a:srgbClr val="C0392B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563874" y="4032504"/>
            <a:ext cx="7939278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250" b="1" dirty="0">
                <a:solidFill>
                  <a:srgbClr val="C0392B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接著做　</a:t>
            </a:r>
            <a:pPr indent="0" marL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Fₜ = 0.07TV（T &gt; 0.7 s、≤ 0.25V）；Fᵢ 按 wᵢ hᵢ 分配；再做三道獨立檢核。</a:t>
            </a:r>
            <a:endParaRPr lang="en-US" sz="1250" dirty="0"/>
          </a:p>
        </p:txBody>
      </p:sp>
      <p:sp>
        <p:nvSpPr>
          <p:cNvPr id="44" name="Shape 42"/>
          <p:cNvSpPr/>
          <p:nvPr/>
        </p:nvSpPr>
        <p:spPr>
          <a:xfrm>
            <a:off x="502920" y="5943600"/>
            <a:ext cx="11183112" cy="777240"/>
          </a:xfrm>
          <a:prstGeom prst="roundRect">
            <a:avLst>
              <a:gd name="adj" fmla="val 9412"/>
            </a:avLst>
          </a:prstGeom>
          <a:solidFill>
            <a:srgbClr val="2A3F5A"/>
          </a:solidFill>
          <a:ln/>
        </p:spPr>
      </p:sp>
      <p:sp>
        <p:nvSpPr>
          <p:cNvPr id="45" name="Text 43"/>
          <p:cNvSpPr/>
          <p:nvPr/>
        </p:nvSpPr>
        <p:spPr>
          <a:xfrm>
            <a:off x="731520" y="6016752"/>
            <a:ext cx="107259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四個必check</a:t>
            </a:r>
            <a:endParaRPr lang="en-US" sz="1250" dirty="0"/>
          </a:p>
        </p:txBody>
      </p:sp>
      <p:sp>
        <p:nvSpPr>
          <p:cNvPr id="46" name="Shape 44"/>
          <p:cNvSpPr/>
          <p:nvPr/>
        </p:nvSpPr>
        <p:spPr>
          <a:xfrm>
            <a:off x="731520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7" name="Text 45"/>
          <p:cNvSpPr/>
          <p:nvPr/>
        </p:nvSpPr>
        <p:spPr>
          <a:xfrm>
            <a:off x="950976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V/W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0.10 ~ 0.25</a:t>
            </a:r>
            <a:endParaRPr lang="en-US" sz="1200" dirty="0"/>
          </a:p>
        </p:txBody>
      </p:sp>
      <p:sp>
        <p:nvSpPr>
          <p:cNvPr id="48" name="Shape 46"/>
          <p:cNvSpPr/>
          <p:nvPr/>
        </p:nvSpPr>
        <p:spPr>
          <a:xfrm>
            <a:off x="3412998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49" name="Text 47"/>
          <p:cNvSpPr/>
          <p:nvPr/>
        </p:nvSpPr>
        <p:spPr>
          <a:xfrm>
            <a:off x="3632454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ΣFᵢ + Fₜ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V</a:t>
            </a:r>
            <a:endParaRPr lang="en-US" sz="1200" dirty="0"/>
          </a:p>
        </p:txBody>
      </p:sp>
      <p:sp>
        <p:nvSpPr>
          <p:cNvPr id="50" name="Shape 48"/>
          <p:cNvSpPr/>
          <p:nvPr/>
        </p:nvSpPr>
        <p:spPr>
          <a:xfrm>
            <a:off x="6094476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1" name="Text 49"/>
          <p:cNvSpPr/>
          <p:nvPr/>
        </p:nvSpPr>
        <p:spPr>
          <a:xfrm>
            <a:off x="6313932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V₁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= V</a:t>
            </a:r>
            <a:endParaRPr lang="en-US" sz="1200" dirty="0"/>
          </a:p>
        </p:txBody>
      </p:sp>
      <p:sp>
        <p:nvSpPr>
          <p:cNvPr id="52" name="Shape 50"/>
          <p:cNvSpPr/>
          <p:nvPr/>
        </p:nvSpPr>
        <p:spPr>
          <a:xfrm>
            <a:off x="8775954" y="6382512"/>
            <a:ext cx="128016" cy="128016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53" name="Text 51"/>
          <p:cNvSpPr/>
          <p:nvPr/>
        </p:nvSpPr>
        <p:spPr>
          <a:xfrm>
            <a:off x="8995410" y="6309360"/>
            <a:ext cx="2361438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h̄/H　</a:t>
            </a:r>
            <a:pPr indent="0" marL="0">
              <a:lnSpc>
                <a:spcPct val="100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0.67 ~ 0.78</a:t>
            </a:r>
            <a:endParaRPr lang="en-US" sz="12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6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豎向分配與基底彎矩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頂部集中力（式 2-14）</a:t>
            </a:r>
            <a:endParaRPr lang="en-US" sz="1300" dirty="0"/>
          </a:p>
        </p:txBody>
      </p:sp>
      <p:pic>
        <p:nvPicPr>
          <p:cNvPr id="7" name="Image 0" descr="formula_imgs/f6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481970" y="1847088"/>
            <a:ext cx="5940780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樓層側力（式 2-15）</a:t>
            </a:r>
            <a:endParaRPr lang="en-US" sz="1300" dirty="0"/>
          </a:p>
        </p:txBody>
      </p:sp>
      <p:pic>
        <p:nvPicPr>
          <p:cNvPr id="11" name="Image 1" descr="formula_imgs/f6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81013" y="2962656"/>
            <a:ext cx="5942695" cy="548640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基底彎矩</a:t>
            </a:r>
            <a:endParaRPr lang="en-US" sz="1300" dirty="0"/>
          </a:p>
        </p:txBody>
      </p:sp>
      <p:pic>
        <p:nvPicPr>
          <p:cNvPr id="15" name="Image 2" descr="formula_imgs/f6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4179" y="4078224"/>
            <a:ext cx="4836361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等效作用高度（等質量等層高）</a:t>
            </a:r>
            <a:endParaRPr lang="en-US" sz="1300" dirty="0"/>
          </a:p>
        </p:txBody>
      </p:sp>
      <p:pic>
        <p:nvPicPr>
          <p:cNvPr id="19" name="Image 3" descr="formula_imgs/f6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88027" y="5193792"/>
            <a:ext cx="2128666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屋頂層實際受力為 Fₙ + Fₜ。h̄/hₙ = (2N+1)/3N 只在各層重量與層高相同時成立：N = 3 為 7/9 ≈ 0.778，N → ∞ 才趨近 2/3。</a:t>
            </a:r>
            <a:endParaRPr lang="en-US" sz="12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DISTRIBUTION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豎向分配：Fₜ、Fᵢ 與基底彎矩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層剪力圖才是柱與剪力牆設計的直接輸入。底層層剪力必然等於 V —— 這是最便宜的一個驗算。</a:t>
            </a:r>
            <a:endParaRPr lang="en-US" sz="1100" dirty="0"/>
          </a:p>
        </p:txBody>
      </p:sp>
      <p:pic>
        <p:nvPicPr>
          <p:cNvPr id="6" name="Image 0" descr="svg/d9 豎向分配與基底彎矩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" y="347472"/>
            <a:ext cx="566928" cy="566928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34747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⑤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1280160" y="310896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微型例題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80160" y="566928"/>
            <a:ext cx="10332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樓層側力、層剪力與基底彎矩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225296"/>
            <a:ext cx="11091672" cy="658368"/>
          </a:xfrm>
          <a:prstGeom prst="roundRect">
            <a:avLst>
              <a:gd name="adj" fmla="val 11111"/>
            </a:avLst>
          </a:prstGeom>
          <a:solidFill>
            <a:srgbClr val="DCE6F0"/>
          </a:solidFill>
          <a:ln/>
        </p:spPr>
      </p:sp>
      <p:sp>
        <p:nvSpPr>
          <p:cNvPr id="7" name="Text 5"/>
          <p:cNvSpPr/>
          <p:nvPr/>
        </p:nvSpPr>
        <p:spPr>
          <a:xfrm>
            <a:off x="777240" y="1225296"/>
            <a:ext cx="106070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2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條件　</a:t>
            </a:r>
            <a:pPr indent="0" marL="0">
              <a:lnSpc>
                <a:spcPct val="110000"/>
              </a:lnSpc>
              <a:buNone/>
            </a:pPr>
            <a:r>
              <a:rPr lang="en-US" sz="125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承例題④ V = 56.04 tf；三層等質量屋架，每層 wᵢ = 98.07 tf、hᵢ = 3.5 / 7.0 / 10.5 m；T = 0.5716 s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9" name="Shape 7"/>
          <p:cNvSpPr/>
          <p:nvPr/>
        </p:nvSpPr>
        <p:spPr>
          <a:xfrm>
            <a:off x="548640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判斷 Fₜ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768096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= 0.5716 s ≤ 0.7 s → Fₜ = 0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（若 T = 1.2 s 則 Fₜ = 0.07 × 1.2 × V = 0.084V，且不得超過 0.25V）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可分配量 = V − Fₜ = 56.04 tf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6300216" y="2029968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3" name="Shape 11"/>
          <p:cNvSpPr/>
          <p:nvPr/>
        </p:nvSpPr>
        <p:spPr>
          <a:xfrm>
            <a:off x="6300216" y="2029968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2"/>
          <p:cNvSpPr/>
          <p:nvPr/>
        </p:nvSpPr>
        <p:spPr>
          <a:xfrm>
            <a:off x="6519672" y="2139696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高度加權分配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19672" y="2487168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Σwᵢ hᵢ = 98.07 × (3.5+7.0+10.5) = 2059.4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F₁ = (3.5/21) × V = 9.34 tf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F₂ = (7.0/21) × V = 18.68 tf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F₃ = (10.5/21) × V = 28.02 tf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548640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17" name="Shape 15"/>
          <p:cNvSpPr/>
          <p:nvPr/>
        </p:nvSpPr>
        <p:spPr>
          <a:xfrm>
            <a:off x="548640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6"/>
          <p:cNvSpPr/>
          <p:nvPr/>
        </p:nvSpPr>
        <p:spPr>
          <a:xfrm>
            <a:off x="768096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層剪力與自檢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768096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V₃ = 28.02、V₂ = 46.70、V₁ = 56.04 tf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自檢：ΣFᵢ + Fₜ = 56.04 = V ✓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自檢：V₁ = V ✓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6300216" y="4005072"/>
            <a:ext cx="5522976" cy="1792224"/>
          </a:xfrm>
          <a:prstGeom prst="roundRect">
            <a:avLst>
              <a:gd name="adj" fmla="val 4082"/>
            </a:avLst>
          </a:prstGeom>
          <a:solidFill>
            <a:srgbClr val="F4F6F9"/>
          </a:solidFill>
          <a:ln/>
        </p:spPr>
      </p:sp>
      <p:sp>
        <p:nvSpPr>
          <p:cNvPr id="21" name="Shape 19"/>
          <p:cNvSpPr/>
          <p:nvPr/>
        </p:nvSpPr>
        <p:spPr>
          <a:xfrm>
            <a:off x="6300216" y="4005072"/>
            <a:ext cx="64008" cy="1792224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20"/>
          <p:cNvSpPr/>
          <p:nvPr/>
        </p:nvSpPr>
        <p:spPr>
          <a:xfrm>
            <a:off x="6519672" y="4114800"/>
            <a:ext cx="508406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基底彎矩與等效高度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19672" y="4462272"/>
            <a:ext cx="5084064" cy="12252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M₀ = ΣFᵢ hᵢ = 32.7 + 130.8 + 294.2 = 457.6 tf·m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h̄ = M₀/V = 8.1667 m = 0.7778 hₙ</a:t>
            </a:r>
            <a:endParaRPr lang="en-US" sz="12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1B2A41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解析值 (2N+1)/3N = 7/9 = 0.7778 ✓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548640" y="6016752"/>
            <a:ext cx="11091672" cy="566928"/>
          </a:xfrm>
          <a:prstGeom prst="roundRect">
            <a:avLst>
              <a:gd name="adj" fmla="val 12903"/>
            </a:avLst>
          </a:prstGeom>
          <a:solidFill>
            <a:srgbClr val="1E8449"/>
          </a:solidFill>
          <a:ln/>
        </p:spPr>
      </p:sp>
      <p:sp>
        <p:nvSpPr>
          <p:cNvPr id="25" name="Text 23"/>
          <p:cNvSpPr/>
          <p:nvPr/>
        </p:nvSpPr>
        <p:spPr>
          <a:xfrm>
            <a:off x="777240" y="6016752"/>
            <a:ext cx="10607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 = (9.34, 18.68, 28.02) tf、M₀ = 457.6 tf·m、h̄ = 0.7778 hₙ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CHECKS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V 之外的三道獨立檢核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是「總量」的要求，但破壞往往來自「分佈」的不均勻：位移角管歪不歪、極限層剪力管哪一層先垮、意外扭矩管轉不轉。</a:t>
            </a:r>
            <a:endParaRPr lang="en-US" sz="1100" dirty="0"/>
          </a:p>
        </p:txBody>
      </p:sp>
      <p:pic>
        <p:nvPicPr>
          <p:cNvPr id="6" name="Image 0" descr="svg/d10 三道獨立檢核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FORMULA 7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三道檢核的判準式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91640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764792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層間相對側向位移角（2.16.1）</a:t>
            </a:r>
            <a:endParaRPr lang="en-US" sz="1300" dirty="0"/>
          </a:p>
        </p:txBody>
      </p:sp>
      <p:pic>
        <p:nvPicPr>
          <p:cNvPr id="7" name="Image 0" descr="formula_imgs/f7_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62701" y="1847088"/>
            <a:ext cx="5779318" cy="54864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548640" y="2807208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9" name="Shape 6"/>
          <p:cNvSpPr/>
          <p:nvPr/>
        </p:nvSpPr>
        <p:spPr>
          <a:xfrm>
            <a:off x="548640" y="2807208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868680" y="2880360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極限層剪力強度（2.17）</a:t>
            </a:r>
            <a:endParaRPr lang="en-US" sz="1300" dirty="0"/>
          </a:p>
        </p:txBody>
      </p:sp>
      <p:pic>
        <p:nvPicPr>
          <p:cNvPr id="11" name="Image 1" descr="formula_imgs/f7_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66160" y="2974598"/>
            <a:ext cx="7772400" cy="524755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548640" y="3922776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3" name="Shape 9"/>
          <p:cNvSpPr/>
          <p:nvPr/>
        </p:nvSpPr>
        <p:spPr>
          <a:xfrm>
            <a:off x="548640" y="3922776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868680" y="3995928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意外扭矩（2.14）</a:t>
            </a:r>
            <a:endParaRPr lang="en-US" sz="1300" dirty="0"/>
          </a:p>
        </p:txBody>
      </p:sp>
      <p:pic>
        <p:nvPicPr>
          <p:cNvPr id="15" name="Image 2" descr="formula_imgs/f7_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92164" y="4078224"/>
            <a:ext cx="3720391" cy="54864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548640" y="5038344"/>
            <a:ext cx="11064240" cy="859536"/>
          </a:xfrm>
          <a:prstGeom prst="roundRect">
            <a:avLst>
              <a:gd name="adj" fmla="val 8511"/>
            </a:avLst>
          </a:prstGeom>
          <a:solidFill>
            <a:srgbClr val="DCE6F0"/>
          </a:solidFill>
          <a:ln/>
        </p:spPr>
      </p:sp>
      <p:sp>
        <p:nvSpPr>
          <p:cNvPr id="17" name="Shape 12"/>
          <p:cNvSpPr/>
          <p:nvPr/>
        </p:nvSpPr>
        <p:spPr>
          <a:xfrm>
            <a:off x="548640" y="5038344"/>
            <a:ext cx="82296" cy="859536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868680" y="5111496"/>
            <a:ext cx="2743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層剪力（由上往下累加）</a:t>
            </a:r>
            <a:endParaRPr lang="en-US" sz="1300" dirty="0"/>
          </a:p>
        </p:txBody>
      </p:sp>
      <p:pic>
        <p:nvPicPr>
          <p:cNvPr id="19" name="Image 3" descr="formula_imgs/f7_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60822" y="5193792"/>
            <a:ext cx="7183075" cy="548640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548640" y="5989320"/>
            <a:ext cx="110642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i="1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位移計算須計及平移與扭轉；2.16.2 另規定鄰棟建築物應留設間隔。極限層剪力強度檢核的例外：該層強度足以抵抗最大考量地震力時不在此限。</a:t>
            </a:r>
            <a:endParaRPr lang="en-US" sz="12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411480"/>
            <a:ext cx="2331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4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PANORAMA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411480" y="731520"/>
            <a:ext cx="237744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20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全景：從工址參數到樓層側力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411480" y="2743200"/>
            <a:ext cx="54864" cy="3291840"/>
          </a:xfrm>
          <a:prstGeom prst="rect">
            <a:avLst/>
          </a:prstGeom>
          <a:solidFill>
            <a:srgbClr val="DCE6F0"/>
          </a:solidFill>
          <a:ln/>
        </p:spPr>
      </p:sp>
      <p:sp>
        <p:nvSpPr>
          <p:cNvPr id="5" name="Text 3"/>
          <p:cNvSpPr/>
          <p:nvPr/>
        </p:nvSpPr>
        <p:spPr>
          <a:xfrm>
            <a:off x="621792" y="2697480"/>
            <a:ext cx="2167128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28000"/>
              </a:lnSpc>
              <a:buNone/>
            </a:pPr>
            <a:r>
              <a:rPr lang="en-US" sz="1100" dirty="0">
                <a:solidFill>
                  <a:srgbClr val="5C7A99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本單元的每一個數字都由同一份 calc.py 算出；改一個參數（工址、地盤、結構系統、樓高），整條計算鏈與所有圖都會跟著變。</a:t>
            </a:r>
            <a:endParaRPr lang="en-US" sz="1100" dirty="0"/>
          </a:p>
        </p:txBody>
      </p:sp>
      <p:pic>
        <p:nvPicPr>
          <p:cNvPr id="6" name="Image 0" descr="svg/d11 全景圖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34549" y="347472"/>
            <a:ext cx="8753326" cy="6163056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1/2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全公式速查：地震力與折減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設計地震 V（2-3）</a:t>
            </a:r>
            <a:endParaRPr lang="en-US" sz="1050" dirty="0"/>
          </a:p>
        </p:txBody>
      </p:sp>
      <p:pic>
        <p:nvPicPr>
          <p:cNvPr id="7" name="Image 0" descr="formula_imgs/s01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947417"/>
            <a:ext cx="2462022" cy="633732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中小度 V*（2-13a/b）</a:t>
            </a:r>
            <a:endParaRPr lang="en-US" sz="1050" dirty="0"/>
          </a:p>
        </p:txBody>
      </p:sp>
      <p:pic>
        <p:nvPicPr>
          <p:cNvPr id="11" name="Image 1" descr="formula_imgs/s02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1964681"/>
            <a:ext cx="2462022" cy="59920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最大考量 VM（2-13c）</a:t>
            </a:r>
            <a:endParaRPr lang="en-US" sz="1050" dirty="0"/>
          </a:p>
        </p:txBody>
      </p:sp>
      <p:pic>
        <p:nvPicPr>
          <p:cNvPr id="15" name="Image 2" descr="formula_imgs/s03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5644" y="1978452"/>
            <a:ext cx="2462022" cy="571661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控制判準</a:t>
            </a:r>
            <a:endParaRPr lang="en-US" sz="1050" dirty="0"/>
          </a:p>
        </p:txBody>
      </p:sp>
      <p:pic>
        <p:nvPicPr>
          <p:cNvPr id="19" name="Image 3" descr="formula_imgs/s04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1630" y="1938528"/>
            <a:ext cx="1518766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工址短週期譜（2-4-1）</a:t>
            </a:r>
            <a:endParaRPr lang="en-US" sz="1050" dirty="0"/>
          </a:p>
        </p:txBody>
      </p:sp>
      <p:pic>
        <p:nvPicPr>
          <p:cNvPr id="23" name="Image 4" descr="formula_imgs/s05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66928" y="3234032"/>
            <a:ext cx="2462022" cy="643682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工址一秒週期譜（2-4-2）</a:t>
            </a:r>
            <a:endParaRPr lang="en-US" sz="1050" dirty="0"/>
          </a:p>
        </p:txBody>
      </p:sp>
      <p:pic>
        <p:nvPicPr>
          <p:cNvPr id="27" name="Image 5" descr="formula_imgs/s06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232257"/>
            <a:ext cx="2462022" cy="647233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轉角週期（2-6-1）</a:t>
            </a:r>
            <a:endParaRPr lang="en-US" sz="1050" dirty="0"/>
          </a:p>
        </p:txBody>
      </p:sp>
      <p:pic>
        <p:nvPicPr>
          <p:cNvPr id="31" name="Image 6" descr="formula_imgs/s07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95644" y="3268786"/>
            <a:ext cx="2462022" cy="574174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容許韌性容量（2-10）</a:t>
            </a:r>
            <a:endParaRPr lang="en-US" sz="1050" dirty="0"/>
          </a:p>
        </p:txBody>
      </p:sp>
      <p:pic>
        <p:nvPicPr>
          <p:cNvPr id="35" name="Image 7" descr="formula_imgs/s08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41694" y="3230118"/>
            <a:ext cx="2298637" cy="651510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經驗週期（2-7~2-9）</a:t>
            </a:r>
            <a:endParaRPr lang="en-US" sz="1050" dirty="0"/>
          </a:p>
        </p:txBody>
      </p:sp>
      <p:pic>
        <p:nvPicPr>
          <p:cNvPr id="39" name="Image 8" descr="formula_imgs/s09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4663" y="4521708"/>
            <a:ext cx="2006552" cy="651510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週期上限（2.6 節）</a:t>
            </a:r>
            <a:endParaRPr lang="en-US" sz="1050" dirty="0"/>
          </a:p>
        </p:txBody>
      </p:sp>
      <p:pic>
        <p:nvPicPr>
          <p:cNvPr id="43" name="Image 9" descr="formula_imgs/s10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31286" y="4531152"/>
            <a:ext cx="2462022" cy="632622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反應譜①上升段</a:t>
            </a:r>
            <a:endParaRPr lang="en-US" sz="1050" dirty="0"/>
          </a:p>
        </p:txBody>
      </p:sp>
      <p:pic>
        <p:nvPicPr>
          <p:cNvPr id="47" name="Image 10" descr="formula_imgs/s11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295644" y="4672383"/>
            <a:ext cx="2462022" cy="35016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反應譜②等加速度</a:t>
            </a:r>
            <a:endParaRPr lang="en-US" sz="1050" dirty="0"/>
          </a:p>
        </p:txBody>
      </p:sp>
      <p:pic>
        <p:nvPicPr>
          <p:cNvPr id="51" name="Image 11" descr="formula_imgs/s12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45848" y="4521708"/>
            <a:ext cx="2290330" cy="651510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反應譜③等速度</a:t>
            </a:r>
            <a:endParaRPr lang="en-US" sz="1050" dirty="0"/>
          </a:p>
        </p:txBody>
      </p:sp>
      <p:pic>
        <p:nvPicPr>
          <p:cNvPr id="55" name="Image 12" descr="formula_imgs/s13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66928" y="5846486"/>
            <a:ext cx="2462022" cy="585133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反應譜④下限段</a:t>
            </a:r>
            <a:endParaRPr lang="en-US" sz="1050" dirty="0"/>
          </a:p>
        </p:txBody>
      </p:sp>
      <p:pic>
        <p:nvPicPr>
          <p:cNvPr id="59" name="Image 13" descr="formula_imgs/s14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869324"/>
            <a:ext cx="2462022" cy="539458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Fᵤ②等能量段</a:t>
            </a:r>
            <a:endParaRPr lang="en-US" sz="1050" dirty="0"/>
          </a:p>
        </p:txBody>
      </p:sp>
      <p:pic>
        <p:nvPicPr>
          <p:cNvPr id="63" name="Image 14" descr="formula_imgs/s15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295644" y="5856796"/>
            <a:ext cx="2462022" cy="564514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Fᵤ③內插段　θ =（T−0.6T₀ᴰ）/ 0.4T₀ᴰ</a:t>
            </a:r>
            <a:endParaRPr lang="en-US" sz="1050" dirty="0"/>
          </a:p>
        </p:txBody>
      </p:sp>
      <p:pic>
        <p:nvPicPr>
          <p:cNvPr id="67" name="Image 15" descr="formula_imgs/s16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6016844"/>
            <a:ext cx="2462022" cy="24441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CHEAT SHEET 2/2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B2A41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全公式速查：修正、分配與檢核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" name="Shape 3"/>
          <p:cNvSpPr/>
          <p:nvPr/>
        </p:nvSpPr>
        <p:spPr>
          <a:xfrm>
            <a:off x="457200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Fᵤ④等位移段</a:t>
            </a:r>
            <a:endParaRPr lang="en-US" sz="1050" dirty="0"/>
          </a:p>
        </p:txBody>
      </p:sp>
      <p:pic>
        <p:nvPicPr>
          <p:cNvPr id="7" name="Image 0" descr="formula_imgs/s17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907" y="1938528"/>
            <a:ext cx="1788065" cy="651510"/>
          </a:xfrm>
          <a:prstGeom prst="rect">
            <a:avLst/>
          </a:prstGeom>
        </p:spPr>
      </p:pic>
      <p:sp>
        <p:nvSpPr>
          <p:cNvPr id="8" name="Shape 5"/>
          <p:cNvSpPr/>
          <p:nvPr/>
        </p:nvSpPr>
        <p:spPr>
          <a:xfrm>
            <a:off x="3321558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9" name="Shape 6"/>
          <p:cNvSpPr/>
          <p:nvPr/>
        </p:nvSpPr>
        <p:spPr>
          <a:xfrm>
            <a:off x="3321558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0" name="Text 7"/>
          <p:cNvSpPr/>
          <p:nvPr/>
        </p:nvSpPr>
        <p:spPr>
          <a:xfrm>
            <a:off x="3431286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最大考量的 FuM</a:t>
            </a:r>
            <a:endParaRPr lang="en-US" sz="1050" dirty="0"/>
          </a:p>
        </p:txBody>
      </p:sp>
      <p:pic>
        <p:nvPicPr>
          <p:cNvPr id="11" name="Image 1" descr="formula_imgs/s18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1286" y="2028186"/>
            <a:ext cx="2462022" cy="472194"/>
          </a:xfrm>
          <a:prstGeom prst="rect">
            <a:avLst/>
          </a:prstGeom>
        </p:spPr>
      </p:pic>
      <p:sp>
        <p:nvSpPr>
          <p:cNvPr id="12" name="Shape 8"/>
          <p:cNvSpPr/>
          <p:nvPr/>
        </p:nvSpPr>
        <p:spPr>
          <a:xfrm>
            <a:off x="6185916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3" name="Shape 9"/>
          <p:cNvSpPr/>
          <p:nvPr/>
        </p:nvSpPr>
        <p:spPr>
          <a:xfrm>
            <a:off x="6185916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4" name="Text 10"/>
          <p:cNvSpPr/>
          <p:nvPr/>
        </p:nvSpPr>
        <p:spPr>
          <a:xfrm>
            <a:off x="6295644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修正①不修正</a:t>
            </a:r>
            <a:endParaRPr lang="en-US" sz="1050" dirty="0"/>
          </a:p>
        </p:txBody>
      </p:sp>
      <p:pic>
        <p:nvPicPr>
          <p:cNvPr id="15" name="Image 2" descr="formula_imgs/s19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78547" y="1938528"/>
            <a:ext cx="1896216" cy="651510"/>
          </a:xfrm>
          <a:prstGeom prst="rect">
            <a:avLst/>
          </a:prstGeom>
        </p:spPr>
      </p:pic>
      <p:sp>
        <p:nvSpPr>
          <p:cNvPr id="16" name="Shape 11"/>
          <p:cNvSpPr/>
          <p:nvPr/>
        </p:nvSpPr>
        <p:spPr>
          <a:xfrm>
            <a:off x="9050274" y="155448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17" name="Shape 12"/>
          <p:cNvSpPr/>
          <p:nvPr/>
        </p:nvSpPr>
        <p:spPr>
          <a:xfrm>
            <a:off x="9050274" y="155448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18" name="Text 13"/>
          <p:cNvSpPr/>
          <p:nvPr/>
        </p:nvSpPr>
        <p:spPr>
          <a:xfrm>
            <a:off x="9160002" y="164592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修正②過渡段</a:t>
            </a:r>
            <a:endParaRPr lang="en-US" sz="1050" dirty="0"/>
          </a:p>
        </p:txBody>
      </p:sp>
      <p:pic>
        <p:nvPicPr>
          <p:cNvPr id="19" name="Image 3" descr="formula_imgs/s20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49865" y="1938528"/>
            <a:ext cx="2282296" cy="651510"/>
          </a:xfrm>
          <a:prstGeom prst="rect">
            <a:avLst/>
          </a:prstGeom>
        </p:spPr>
      </p:pic>
      <p:sp>
        <p:nvSpPr>
          <p:cNvPr id="20" name="Shape 14"/>
          <p:cNvSpPr/>
          <p:nvPr/>
        </p:nvSpPr>
        <p:spPr>
          <a:xfrm>
            <a:off x="457200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1" name="Shape 15"/>
          <p:cNvSpPr/>
          <p:nvPr/>
        </p:nvSpPr>
        <p:spPr>
          <a:xfrm>
            <a:off x="457200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2" name="Text 16"/>
          <p:cNvSpPr/>
          <p:nvPr/>
        </p:nvSpPr>
        <p:spPr>
          <a:xfrm>
            <a:off x="566928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修正③打七折</a:t>
            </a:r>
            <a:endParaRPr lang="en-US" sz="1050" dirty="0"/>
          </a:p>
        </p:txBody>
      </p:sp>
      <p:pic>
        <p:nvPicPr>
          <p:cNvPr id="23" name="Image 4" descr="formula_imgs/s21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954" y="3230118"/>
            <a:ext cx="1107969" cy="651510"/>
          </a:xfrm>
          <a:prstGeom prst="rect">
            <a:avLst/>
          </a:prstGeom>
        </p:spPr>
      </p:pic>
      <p:sp>
        <p:nvSpPr>
          <p:cNvPr id="24" name="Shape 17"/>
          <p:cNvSpPr/>
          <p:nvPr/>
        </p:nvSpPr>
        <p:spPr>
          <a:xfrm>
            <a:off x="3321558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5" name="Shape 18"/>
          <p:cNvSpPr/>
          <p:nvPr/>
        </p:nvSpPr>
        <p:spPr>
          <a:xfrm>
            <a:off x="3321558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26" name="Text 19"/>
          <p:cNvSpPr/>
          <p:nvPr/>
        </p:nvSpPr>
        <p:spPr>
          <a:xfrm>
            <a:off x="3431286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等位移法則</a:t>
            </a:r>
            <a:endParaRPr lang="en-US" sz="1050" dirty="0"/>
          </a:p>
        </p:txBody>
      </p:sp>
      <p:pic>
        <p:nvPicPr>
          <p:cNvPr id="27" name="Image 5" descr="formula_imgs/s22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31286" y="3249134"/>
            <a:ext cx="2462022" cy="613479"/>
          </a:xfrm>
          <a:prstGeom prst="rect">
            <a:avLst/>
          </a:prstGeom>
        </p:spPr>
      </p:pic>
      <p:sp>
        <p:nvSpPr>
          <p:cNvPr id="28" name="Shape 20"/>
          <p:cNvSpPr/>
          <p:nvPr/>
        </p:nvSpPr>
        <p:spPr>
          <a:xfrm>
            <a:off x="6185916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29" name="Shape 21"/>
          <p:cNvSpPr/>
          <p:nvPr/>
        </p:nvSpPr>
        <p:spPr>
          <a:xfrm>
            <a:off x="6185916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0" name="Text 22"/>
          <p:cNvSpPr/>
          <p:nvPr/>
        </p:nvSpPr>
        <p:spPr>
          <a:xfrm>
            <a:off x="6295644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等能量法則</a:t>
            </a:r>
            <a:endParaRPr lang="en-US" sz="1050" dirty="0"/>
          </a:p>
        </p:txBody>
      </p:sp>
      <p:pic>
        <p:nvPicPr>
          <p:cNvPr id="31" name="Image 6" descr="formula_imgs/s23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378251" y="3230118"/>
            <a:ext cx="2296809" cy="651510"/>
          </a:xfrm>
          <a:prstGeom prst="rect">
            <a:avLst/>
          </a:prstGeom>
        </p:spPr>
      </p:pic>
      <p:sp>
        <p:nvSpPr>
          <p:cNvPr id="32" name="Shape 23"/>
          <p:cNvSpPr/>
          <p:nvPr/>
        </p:nvSpPr>
        <p:spPr>
          <a:xfrm>
            <a:off x="9050274" y="284607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3" name="Shape 24"/>
          <p:cNvSpPr/>
          <p:nvPr/>
        </p:nvSpPr>
        <p:spPr>
          <a:xfrm>
            <a:off x="9050274" y="284607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4" name="Text 25"/>
          <p:cNvSpPr/>
          <p:nvPr/>
        </p:nvSpPr>
        <p:spPr>
          <a:xfrm>
            <a:off x="9160002" y="293751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彈性需求倍率</a:t>
            </a:r>
            <a:endParaRPr lang="en-US" sz="1050" dirty="0"/>
          </a:p>
        </p:txBody>
      </p:sp>
      <p:pic>
        <p:nvPicPr>
          <p:cNvPr id="35" name="Image 7" descr="formula_imgs/s24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160002" y="3303192"/>
            <a:ext cx="2462022" cy="505362"/>
          </a:xfrm>
          <a:prstGeom prst="rect">
            <a:avLst/>
          </a:prstGeom>
        </p:spPr>
      </p:pic>
      <p:sp>
        <p:nvSpPr>
          <p:cNvPr id="36" name="Shape 26"/>
          <p:cNvSpPr/>
          <p:nvPr/>
        </p:nvSpPr>
        <p:spPr>
          <a:xfrm>
            <a:off x="457200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37" name="Shape 27"/>
          <p:cNvSpPr/>
          <p:nvPr/>
        </p:nvSpPr>
        <p:spPr>
          <a:xfrm>
            <a:off x="457200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38" name="Text 28"/>
          <p:cNvSpPr/>
          <p:nvPr/>
        </p:nvSpPr>
        <p:spPr>
          <a:xfrm>
            <a:off x="566928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頂部集中力（2-14）</a:t>
            </a:r>
            <a:endParaRPr lang="en-US" sz="1050" dirty="0"/>
          </a:p>
        </p:txBody>
      </p:sp>
      <p:pic>
        <p:nvPicPr>
          <p:cNvPr id="39" name="Image 8" descr="formula_imgs/s25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66928" y="4663136"/>
            <a:ext cx="2462022" cy="368654"/>
          </a:xfrm>
          <a:prstGeom prst="rect">
            <a:avLst/>
          </a:prstGeom>
        </p:spPr>
      </p:pic>
      <p:sp>
        <p:nvSpPr>
          <p:cNvPr id="40" name="Shape 29"/>
          <p:cNvSpPr/>
          <p:nvPr/>
        </p:nvSpPr>
        <p:spPr>
          <a:xfrm>
            <a:off x="3321558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1" name="Shape 30"/>
          <p:cNvSpPr/>
          <p:nvPr/>
        </p:nvSpPr>
        <p:spPr>
          <a:xfrm>
            <a:off x="3321558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2" name="Text 31"/>
          <p:cNvSpPr/>
          <p:nvPr/>
        </p:nvSpPr>
        <p:spPr>
          <a:xfrm>
            <a:off x="3431286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樓層側力（2-15）</a:t>
            </a:r>
            <a:endParaRPr lang="en-US" sz="1050" dirty="0"/>
          </a:p>
        </p:txBody>
      </p:sp>
      <p:pic>
        <p:nvPicPr>
          <p:cNvPr id="43" name="Image 9" descr="formula_imgs/s26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81435" y="4521708"/>
            <a:ext cx="2361724" cy="651510"/>
          </a:xfrm>
          <a:prstGeom prst="rect">
            <a:avLst/>
          </a:prstGeom>
        </p:spPr>
      </p:pic>
      <p:sp>
        <p:nvSpPr>
          <p:cNvPr id="44" name="Shape 32"/>
          <p:cNvSpPr/>
          <p:nvPr/>
        </p:nvSpPr>
        <p:spPr>
          <a:xfrm>
            <a:off x="6185916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5" name="Shape 33"/>
          <p:cNvSpPr/>
          <p:nvPr/>
        </p:nvSpPr>
        <p:spPr>
          <a:xfrm>
            <a:off x="6185916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46" name="Text 34"/>
          <p:cNvSpPr/>
          <p:nvPr/>
        </p:nvSpPr>
        <p:spPr>
          <a:xfrm>
            <a:off x="6295644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層剪力</a:t>
            </a:r>
            <a:endParaRPr lang="en-US" sz="1050" dirty="0"/>
          </a:p>
        </p:txBody>
      </p:sp>
      <p:pic>
        <p:nvPicPr>
          <p:cNvPr id="47" name="Image 10" descr="formula_imgs/s27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6685683" y="4521708"/>
            <a:ext cx="1681944" cy="651510"/>
          </a:xfrm>
          <a:prstGeom prst="rect">
            <a:avLst/>
          </a:prstGeom>
        </p:spPr>
      </p:pic>
      <p:sp>
        <p:nvSpPr>
          <p:cNvPr id="48" name="Shape 35"/>
          <p:cNvSpPr/>
          <p:nvPr/>
        </p:nvSpPr>
        <p:spPr>
          <a:xfrm>
            <a:off x="9050274" y="413766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49" name="Shape 36"/>
          <p:cNvSpPr/>
          <p:nvPr/>
        </p:nvSpPr>
        <p:spPr>
          <a:xfrm>
            <a:off x="9050274" y="413766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0" name="Text 37"/>
          <p:cNvSpPr/>
          <p:nvPr/>
        </p:nvSpPr>
        <p:spPr>
          <a:xfrm>
            <a:off x="9160002" y="422910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基底彎矩</a:t>
            </a:r>
            <a:endParaRPr lang="en-US" sz="1050" dirty="0"/>
          </a:p>
        </p:txBody>
      </p:sp>
      <p:pic>
        <p:nvPicPr>
          <p:cNvPr id="51" name="Image 11" descr="formula_imgs/s28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60002" y="4605258"/>
            <a:ext cx="2462022" cy="484411"/>
          </a:xfrm>
          <a:prstGeom prst="rect">
            <a:avLst/>
          </a:prstGeom>
        </p:spPr>
      </p:pic>
      <p:sp>
        <p:nvSpPr>
          <p:cNvPr id="52" name="Shape 38"/>
          <p:cNvSpPr/>
          <p:nvPr/>
        </p:nvSpPr>
        <p:spPr>
          <a:xfrm>
            <a:off x="457200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3" name="Shape 39"/>
          <p:cNvSpPr/>
          <p:nvPr/>
        </p:nvSpPr>
        <p:spPr>
          <a:xfrm>
            <a:off x="457200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4" name="Text 40"/>
          <p:cNvSpPr/>
          <p:nvPr/>
        </p:nvSpPr>
        <p:spPr>
          <a:xfrm>
            <a:off x="566928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等效作用高度</a:t>
            </a:r>
            <a:endParaRPr lang="en-US" sz="1050" dirty="0"/>
          </a:p>
        </p:txBody>
      </p:sp>
      <p:pic>
        <p:nvPicPr>
          <p:cNvPr id="55" name="Image 12" descr="formula_imgs/s29.png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5121" y="5813298"/>
            <a:ext cx="1945636" cy="651510"/>
          </a:xfrm>
          <a:prstGeom prst="rect">
            <a:avLst/>
          </a:prstGeom>
        </p:spPr>
      </p:pic>
      <p:sp>
        <p:nvSpPr>
          <p:cNvPr id="56" name="Shape 41"/>
          <p:cNvSpPr/>
          <p:nvPr/>
        </p:nvSpPr>
        <p:spPr>
          <a:xfrm>
            <a:off x="3321558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57" name="Shape 42"/>
          <p:cNvSpPr/>
          <p:nvPr/>
        </p:nvSpPr>
        <p:spPr>
          <a:xfrm>
            <a:off x="3321558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58" name="Text 43"/>
          <p:cNvSpPr/>
          <p:nvPr/>
        </p:nvSpPr>
        <p:spPr>
          <a:xfrm>
            <a:off x="3431286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層間位移角（2.16.1）</a:t>
            </a:r>
            <a:endParaRPr lang="en-US" sz="1050" dirty="0"/>
          </a:p>
        </p:txBody>
      </p:sp>
      <p:pic>
        <p:nvPicPr>
          <p:cNvPr id="59" name="Image 13" descr="formula_imgs/s30.png">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3431286" y="5862895"/>
            <a:ext cx="2462022" cy="552317"/>
          </a:xfrm>
          <a:prstGeom prst="rect">
            <a:avLst/>
          </a:prstGeom>
        </p:spPr>
      </p:pic>
      <p:sp>
        <p:nvSpPr>
          <p:cNvPr id="60" name="Shape 44"/>
          <p:cNvSpPr/>
          <p:nvPr/>
        </p:nvSpPr>
        <p:spPr>
          <a:xfrm>
            <a:off x="6185916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1" name="Shape 45"/>
          <p:cNvSpPr/>
          <p:nvPr/>
        </p:nvSpPr>
        <p:spPr>
          <a:xfrm>
            <a:off x="6185916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2" name="Text 46"/>
          <p:cNvSpPr/>
          <p:nvPr/>
        </p:nvSpPr>
        <p:spPr>
          <a:xfrm>
            <a:off x="6295644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極限層剪力（2.17）</a:t>
            </a:r>
            <a:endParaRPr lang="en-US" sz="1050" dirty="0"/>
          </a:p>
        </p:txBody>
      </p:sp>
      <p:pic>
        <p:nvPicPr>
          <p:cNvPr id="63" name="Image 14" descr="formula_imgs/s31.png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6581681" y="5813298"/>
            <a:ext cx="1889949" cy="651510"/>
          </a:xfrm>
          <a:prstGeom prst="rect">
            <a:avLst/>
          </a:prstGeom>
        </p:spPr>
      </p:pic>
      <p:sp>
        <p:nvSpPr>
          <p:cNvPr id="64" name="Shape 47"/>
          <p:cNvSpPr/>
          <p:nvPr/>
        </p:nvSpPr>
        <p:spPr>
          <a:xfrm>
            <a:off x="9050274" y="5429250"/>
            <a:ext cx="2681478" cy="1108710"/>
          </a:xfrm>
          <a:prstGeom prst="roundRect">
            <a:avLst>
              <a:gd name="adj" fmla="val 4948"/>
            </a:avLst>
          </a:prstGeom>
          <a:solidFill>
            <a:srgbClr val="F4F6F9"/>
          </a:solidFill>
          <a:ln/>
        </p:spPr>
      </p:sp>
      <p:sp>
        <p:nvSpPr>
          <p:cNvPr id="65" name="Shape 48"/>
          <p:cNvSpPr/>
          <p:nvPr/>
        </p:nvSpPr>
        <p:spPr>
          <a:xfrm>
            <a:off x="9050274" y="5429250"/>
            <a:ext cx="2681478" cy="50292"/>
          </a:xfrm>
          <a:prstGeom prst="rect">
            <a:avLst/>
          </a:prstGeom>
          <a:solidFill>
            <a:srgbClr val="E8734A"/>
          </a:solidFill>
          <a:ln/>
        </p:spPr>
      </p:sp>
      <p:sp>
        <p:nvSpPr>
          <p:cNvPr id="66" name="Text 49"/>
          <p:cNvSpPr/>
          <p:nvPr/>
        </p:nvSpPr>
        <p:spPr>
          <a:xfrm>
            <a:off x="9160002" y="5520690"/>
            <a:ext cx="24620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b="1" dirty="0">
                <a:solidFill>
                  <a:srgbClr val="4C6B8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意外扭矩（2.14）</a:t>
            </a:r>
            <a:endParaRPr lang="en-US" sz="1050" dirty="0"/>
          </a:p>
        </p:txBody>
      </p:sp>
      <p:pic>
        <p:nvPicPr>
          <p:cNvPr id="67" name="Image 15" descr="formula_imgs/s32.png">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160002" y="5928227"/>
            <a:ext cx="2462022" cy="421653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65760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TRAPS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85800"/>
            <a:ext cx="109728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高頻陷阱六則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6" name="Text 4"/>
          <p:cNvSpPr/>
          <p:nvPr/>
        </p:nvSpPr>
        <p:spPr>
          <a:xfrm>
            <a:off x="749808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① 直接把動力分析的 T 拿來用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749808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規範以「經驗公式 × 1.4」設上限。本例動力值 0.7465 s 必須壓回 0.5716 s；若不壓，SaD 由 0.800 掉到 0.7234，地震力少算 9.6%，整題報廢。反之，動力值比經驗值短時要用短的。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31636" y="169164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0" name="Shape 8"/>
          <p:cNvSpPr/>
          <p:nvPr/>
        </p:nvSpPr>
        <p:spPr>
          <a:xfrm>
            <a:off x="6432804" y="187452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6432804" y="187452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6871716" y="185623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② 只算設計地震那一條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6432804" y="237744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V、V*、VM 三條都要算。本例 V* = 56.04 tf &gt; V = 53.82 tf，由中小度地震控制。判準：V*/V = 1.4Fᵤ/K，K = 4.2 時 Fᵤ &gt; 3.0（約 R ≥ 4.0）就會被 V* 控制。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48640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15" name="Shape 13"/>
          <p:cNvSpPr/>
          <p:nvPr/>
        </p:nvSpPr>
        <p:spPr>
          <a:xfrm>
            <a:off x="749808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6" name="Text 14"/>
          <p:cNvSpPr/>
          <p:nvPr/>
        </p:nvSpPr>
        <p:spPr>
          <a:xfrm>
            <a:off x="749808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1188720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③ 忘了 (SaD/Fᵤ)ₘ 這一步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749808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 SaD/Fᵤ 一定要判段：≤ 0.3 不修正、0.3~0.8 用 0.52x+0.144、≥ 0.8 打七折。本例落在第 ① 段所以看起來「沒做」，但高地震力工址會被砍掉三成。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231636" y="338328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0" name="Shape 18"/>
          <p:cNvSpPr/>
          <p:nvPr/>
        </p:nvSpPr>
        <p:spPr>
          <a:xfrm>
            <a:off x="6432804" y="356616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1" name="Text 19"/>
          <p:cNvSpPr/>
          <p:nvPr/>
        </p:nvSpPr>
        <p:spPr>
          <a:xfrm>
            <a:off x="6432804" y="3566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6871716" y="354787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④ R 與 Rₐ、Fᵤ 三者混用</a:t>
            </a:r>
            <a:endParaRPr lang="en-US" sz="1350" dirty="0"/>
          </a:p>
        </p:txBody>
      </p:sp>
      <p:sp>
        <p:nvSpPr>
          <p:cNvPr id="23" name="Text 21"/>
          <p:cNvSpPr/>
          <p:nvPr/>
        </p:nvSpPr>
        <p:spPr>
          <a:xfrm>
            <a:off x="6432804" y="406908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R 是查表 1-3 的系統韌性容量（定值）；Rₐ = 1+(R−1)/1.5 是設計地震可用的容許值；Fᵤ 還要再看週期分段。本例 R = 4.8 → Rₐ = 3.5333 → Fᵤ = 3.1236，三個數字都不一樣。最大考量地震則直接用 R 與 T₀ᴹ。</a:t>
            </a:r>
            <a:endParaRPr lang="en-US" sz="1100" dirty="0"/>
          </a:p>
        </p:txBody>
      </p:sp>
      <p:sp>
        <p:nvSpPr>
          <p:cNvPr id="24" name="Shape 22"/>
          <p:cNvSpPr/>
          <p:nvPr/>
        </p:nvSpPr>
        <p:spPr>
          <a:xfrm>
            <a:off x="548640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25" name="Shape 23"/>
          <p:cNvSpPr/>
          <p:nvPr/>
        </p:nvSpPr>
        <p:spPr>
          <a:xfrm>
            <a:off x="749808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6" name="Text 24"/>
          <p:cNvSpPr/>
          <p:nvPr/>
        </p:nvSpPr>
        <p:spPr>
          <a:xfrm>
            <a:off x="749808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1188720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⑤ Fₜ 的兩個條件只記一半</a:t>
            </a:r>
            <a:endParaRPr lang="en-US" sz="1350" dirty="0"/>
          </a:p>
        </p:txBody>
      </p:sp>
      <p:sp>
        <p:nvSpPr>
          <p:cNvPr id="28" name="Text 26"/>
          <p:cNvSpPr/>
          <p:nvPr/>
        </p:nvSpPr>
        <p:spPr>
          <a:xfrm>
            <a:off x="749808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T ≤ 0.7 s 時 Fₜ = 0；T &gt; 0.7 s 時 Fₜ = 0.07TV，且不得超過 0.25V（T &gt; 3.571 s 就會觸頂）。屋頂層的實際側力是 Fₙ + Fₜ，不是只有 Fₙ。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6231636" y="5074920"/>
            <a:ext cx="5408676" cy="1417320"/>
          </a:xfrm>
          <a:prstGeom prst="roundRect">
            <a:avLst>
              <a:gd name="adj" fmla="val 5161"/>
            </a:avLst>
          </a:prstGeom>
          <a:solidFill>
            <a:srgbClr val="2A3F5A"/>
          </a:solidFill>
          <a:ln/>
        </p:spPr>
      </p:sp>
      <p:sp>
        <p:nvSpPr>
          <p:cNvPr id="30" name="Shape 28"/>
          <p:cNvSpPr/>
          <p:nvPr/>
        </p:nvSpPr>
        <p:spPr>
          <a:xfrm>
            <a:off x="6432804" y="5257800"/>
            <a:ext cx="329184" cy="329184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31" name="Text 29"/>
          <p:cNvSpPr/>
          <p:nvPr/>
        </p:nvSpPr>
        <p:spPr>
          <a:xfrm>
            <a:off x="6432804" y="525780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!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71716" y="5239512"/>
            <a:ext cx="45857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⑥ 等效作用高度背成 2/3H</a:t>
            </a:r>
            <a:endParaRPr lang="en-US" sz="1350" dirty="0"/>
          </a:p>
        </p:txBody>
      </p:sp>
      <p:sp>
        <p:nvSpPr>
          <p:cNvPr id="33" name="Text 31"/>
          <p:cNvSpPr/>
          <p:nvPr/>
        </p:nvSpPr>
        <p:spPr>
          <a:xfrm>
            <a:off x="6432804" y="5760720"/>
            <a:ext cx="50063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2/3H 是「連續倒三角形」的合力點。離散樓層（等質量等層高）是 (2N+1)/3N：N = 3 為 0.7778、N = 8 為 0.7083，要 N → ∞ 才趨近 0.6667。本例 h̄ = 8.1667 m = 0.7778 hₙ。</a:t>
            </a:r>
            <a:endParaRPr lang="en-US" sz="11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1B2A4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097280" y="4937760"/>
            <a:ext cx="3108960" cy="3108960"/>
          </a:xfrm>
          <a:prstGeom prst="ellipse">
            <a:avLst/>
          </a:prstGeom>
          <a:solidFill>
            <a:srgbClr val="4C6B8A">
              <a:alpha val="35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822960"/>
            <a:ext cx="9144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50" kern="0" dirty="0">
                <a:solidFill>
                  <a:srgbClr val="E8734A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考前總複習｜重點回顧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640080" y="1234440"/>
            <a:ext cx="10515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五句話帶走這個單元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640080" y="2286000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2479853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7" name="Text 5"/>
          <p:cNvSpPr/>
          <p:nvPr/>
        </p:nvSpPr>
        <p:spPr>
          <a:xfrm>
            <a:off x="868680" y="2479853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80160" y="2286000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V 是一道除法：分子是需求（I·SaD·W），分母是供給（1.4·αy·Fᵤ）。V 不是真實地震力 —— 本例真實彈性需求是 V 的 4.37 倍。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40080" y="314919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0" name="Shape 8"/>
          <p:cNvSpPr/>
          <p:nvPr/>
        </p:nvSpPr>
        <p:spPr>
          <a:xfrm>
            <a:off x="868680" y="3343046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1" name="Text 9"/>
          <p:cNvSpPr/>
          <p:nvPr/>
        </p:nvSpPr>
        <p:spPr>
          <a:xfrm>
            <a:off x="868680" y="334304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280160" y="314919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需求側只有一條折線：地盤放大定平台高度與寬度，結構週期定落點。先把 T 釘死（記得 1.4 倍上限），再判反應譜與 Fᵤ 的段位。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40080" y="4012387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4" name="Shape 12"/>
          <p:cNvSpPr/>
          <p:nvPr/>
        </p:nvSpPr>
        <p:spPr>
          <a:xfrm>
            <a:off x="868680" y="4206240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5" name="Text 13"/>
          <p:cNvSpPr/>
          <p:nvPr/>
        </p:nvSpPr>
        <p:spPr>
          <a:xfrm>
            <a:off x="868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280160" y="4012387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供給側有兩條法則：長週期用等位移 Fᵤ = Rₐ，中短週期用等能量 Fᵤ = √(2Rₐ−1)，中間線性內插。R ≠ Rₐ ≠ Fᵤ。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40080" y="4875581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18" name="Shape 16"/>
          <p:cNvSpPr/>
          <p:nvPr/>
        </p:nvSpPr>
        <p:spPr>
          <a:xfrm>
            <a:off x="868680" y="5069434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19" name="Text 17"/>
          <p:cNvSpPr/>
          <p:nvPr/>
        </p:nvSpPr>
        <p:spPr>
          <a:xfrm>
            <a:off x="868680" y="506943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280160" y="4875581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三條路徑都要算，取最大者控制。判準 V*/V = 1.4Fᵤ/K：本例 = 1.0412 &gt; 1，由中小度地震控制 —— 韌性救得了命，免除不了小震不壞的義務。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40080" y="5738774"/>
            <a:ext cx="10881360" cy="662026"/>
          </a:xfrm>
          <a:prstGeom prst="roundRect">
            <a:avLst>
              <a:gd name="adj" fmla="val 8287"/>
            </a:avLst>
          </a:prstGeom>
          <a:solidFill>
            <a:srgbClr val="24384F"/>
          </a:solidFill>
          <a:ln/>
        </p:spPr>
      </p:sp>
      <p:sp>
        <p:nvSpPr>
          <p:cNvPr id="22" name="Shape 20"/>
          <p:cNvSpPr/>
          <p:nvPr/>
        </p:nvSpPr>
        <p:spPr>
          <a:xfrm>
            <a:off x="868680" y="5932627"/>
            <a:ext cx="274320" cy="274320"/>
          </a:xfrm>
          <a:prstGeom prst="ellipse">
            <a:avLst/>
          </a:prstGeom>
          <a:solidFill>
            <a:srgbClr val="E8734A"/>
          </a:solidFill>
          <a:ln/>
        </p:spPr>
      </p:sp>
      <p:sp>
        <p:nvSpPr>
          <p:cNvPr id="23" name="Text 21"/>
          <p:cNvSpPr/>
          <p:nvPr/>
        </p:nvSpPr>
        <p:spPr>
          <a:xfrm>
            <a:off x="868680" y="5932627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Noto Serif CJK TC" pitchFamily="34" charset="0"/>
                <a:ea typeface="Noto Serif CJK TC" pitchFamily="34" charset="-122"/>
                <a:cs typeface="Noto Serif CJK TC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280160" y="5738774"/>
            <a:ext cx="10058400" cy="66202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DCE6F0"/>
                </a:solidFill>
                <a:latin typeface="Noto Sans CJK TC" pitchFamily="34" charset="0"/>
                <a:ea typeface="Noto Sans CJK TC" pitchFamily="34" charset="-122"/>
                <a:cs typeface="Noto Sans CJK TC" pitchFamily="34" charset="-120"/>
              </a:rPr>
              <a:t>算完 V 只是一半：Fₜ → Fᵢ → Vᵢ → M₀ 之後，還有層間位移角、極限層剪力強度、意外扭矩三道獨立檢核。</a:t>
            </a:r>
            <a:endParaRPr lang="en-US" sz="13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30</Slides>
  <Notes>30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SD-U2-2 建築耐震設計規範</dc:creator>
  <cp:lastModifiedBy>SD-U2-2 建築耐震設計規範</cp:lastModifiedBy>
  <cp:revision>1</cp:revision>
  <dcterms:created xsi:type="dcterms:W3CDTF">2026-09-16T06:43:38Z</dcterms:created>
  <dcterms:modified xsi:type="dcterms:W3CDTF">2026-09-16T06:43:38Z</dcterms:modified>
</cp:coreProperties>
</file>
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SD-U3-2 · 結構動力｜觀念講義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隔減震原理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隔震用「週期」把力打下來，用「阻尼」把位移收回來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698601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6986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全篇貫穿同一棟示範建築：W = 12,000 tf、八層、固定基礎 T = 0.80 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結構動力學「隔減震原理」觀念講義｜原理 · 公式 · 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一個矛盾、一套手續、三條路線、一張檢查表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底層矛盾：力與位移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在反應譜的等速度段，Sa 與 T 成反比、D 與 T 成正比。週期延長 3 倍，力降為 1/3，位移卻漲 3 倍 —— 整個單元都在處理這個矛盾。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通關手續：等效線性化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非線性元件一律換成「割線勁度 Keff ＋ 等效阻尼比 ξeq」。因為 Keff 是位移的函數，所以必須迭代。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三條路線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隔震（LRB / FPS）動的是週期；② 消能（FVD / BRB）動的是阻尼、有時連勁度一起動；③ TMD 動的是共振。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收尾：檢查數量級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Teff 約 2～4 s、隔震層位移約 15～40 cm、ξeq 約 15～30%。算完先量一次，再決定要不要相信自己的答案。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底層邏輯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隔震不是把結構做強，是把工作點搬到譜上力比較小的地方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-two-kn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1506"/>
            <a:ext cx="6501384" cy="35693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旋鈕①「延長週期」：沿 5% 設計譜往右走。本例 T 由 0.80 s 搬到 2.42 s，Sa 由 0.600 g 掉到 0.199 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旋鈕②「提高阻尼」：整條譜垂直下壓 B1 倍。ξ = 23.3% 查得 B1 = 1.566，Sa 再降到 0.127 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兩個旋鈕合起來：V/W 由 60% 降到 12.68%，基底剪力 7,200 → 1,521 tf，只剩 21%。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注意順序：水平那段是隔震的本體，垂直那段只是阻尼的加分。只加阻尼不延長週期，效果差一個量級。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本例的 60% 是「彈性需求」（未做韌性折減），用於前後對照；實際設計仍要依規範的韌性容量與結構系統折減。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反應譜與阻尼折減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為什麼延長週期一定會付位移的代價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設計譜：等加速度段與等速度段</a:t>
            </a:r>
            <a:endParaRPr lang="en-US" sz="1300" dirty="0"/>
          </a:p>
        </p:txBody>
      </p:sp>
      <p:pic>
        <p:nvPicPr>
          <p:cNvPr id="7" name="Image 0" descr="formula_imgs/f_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034" y="1847088"/>
            <a:ext cx="617265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由譜加速度回推譜位移 —— 等速度段 Sa ∝ 1/T，代進去得 D ∝ T</a:t>
            </a:r>
            <a:endParaRPr lang="en-US" sz="1300" dirty="0"/>
          </a:p>
        </p:txBody>
      </p:sp>
      <p:pic>
        <p:nvPicPr>
          <p:cNvPr id="11" name="Image 1" descr="formula_imgs/f_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95" y="2962656"/>
            <a:ext cx="583753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阻尼比不是 5% 時，力與位移「同時」除以 B1</a:t>
            </a:r>
            <a:endParaRPr lang="en-US" sz="1300" dirty="0"/>
          </a:p>
        </p:txBody>
      </p:sp>
      <p:pic>
        <p:nvPicPr>
          <p:cNvPr id="15" name="Image 2" descr="formula_imgs/f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549" y="4078224"/>
            <a:ext cx="463362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有效振動週期（隔震題永遠是第一個算出來的量）</a:t>
            </a:r>
            <a:endParaRPr lang="en-US" sz="1300" dirty="0"/>
          </a:p>
        </p:txBody>
      </p:sp>
      <p:pic>
        <p:nvPicPr>
          <p:cNvPr id="19" name="Image 3" descr="formula_imgs/f_te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280" y="5193792"/>
            <a:ext cx="293616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踩坑警訊：題目給的是總重 W 時，質量 m = W/g，千萬不能把 W 直接當質量代進根號裡 —— 本例 W = 12,000 tf 對應 m = 12.232 tf·s²/cm，差了 981 倍。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矛盾的全貌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力往下、位移往上：阻尼是唯一能把代價收回來的東西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2-force-disp-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7002"/>
            <a:ext cx="6501384" cy="35183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左圖：週期 0.80 → 2.42 s（3.0 倍），Sa 由 0.600 g 降到 0.199 g（約 1/3）—— 這是隔震的收益。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右圖：同一段路，譜位移由 9.5 cm 漲到 28.8 cm —— 這是隔震的帳單，而且是隔震層一個人扛。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 ξ = 23.3% 把 28.8 cm 壓回 18.4 cm，收回 36%。沒有這一步，隔震溝要做到 30 cm 以上。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所以「隔震」與「消能」不是兩個可以二選一的方案，而是同一套系統裡互補的兩半。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上部結構的層間變位則是相反方向：它從 9.5 cm 降到幾乎為零，因為變形全部集中到隔震層去了。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為什麼可以用單自由度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隔震層與上部結構是「串聯」，最軟的彈簧主宰全局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3-series-sp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4297"/>
            <a:ext cx="6501384" cy="37838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串聯的意思是位移相加、力相同，所以是勁度的倒數相加：1/keq = 1/ksup + 1/kb。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kb/ksup = 0.109，隔震層軟了快 10 倍，keq = 74.4 tf/cm 只比 kb 小 10%。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後果是第一振態幾乎是剛體平移，有效模態質量超過 95%，高振態可以忽略 —— 這才是等值靜力法合法的理由。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誠實的但書：把上部結構當剛體算得 2.42 s，真正串聯是 2.55 s，位移會被低估約 5%。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常見的觀念錯誤是把兩者的勁度直接相加（並聯）。並聯是「同一個位移、力相加」，隔震層與上部結構顯然不是這種關係。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通關手續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等效線性化：把非線性元件換成一根彈簧加一個阻尼比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有效（割線）勁度 —— 必須通過原點與最大位移點</a:t>
            </a:r>
            <a:endParaRPr lang="en-US" sz="1300" dirty="0"/>
          </a:p>
        </p:txBody>
      </p:sp>
      <p:pic>
        <p:nvPicPr>
          <p:cNvPr id="7" name="Image 0" descr="formula_imgs/f_k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8582" y="1847088"/>
            <a:ext cx="542755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等效阻尼比 —— 一圈遲滯面積除以彈性應變能</a:t>
            </a:r>
            <a:endParaRPr lang="en-US" sz="1300" dirty="0"/>
          </a:p>
        </p:txBody>
      </p:sp>
      <p:pic>
        <p:nvPicPr>
          <p:cNvPr id="11" name="Image 1" descr="formula_imgs/f_xi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504" y="2962656"/>
            <a:ext cx="223771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分母的彈性應變能一律用「系統」的割線勁度</a:t>
            </a:r>
            <a:endParaRPr lang="en-US" sz="1300" dirty="0"/>
          </a:p>
        </p:txBody>
      </p:sp>
      <p:pic>
        <p:nvPicPr>
          <p:cNvPr id="15" name="Image 2" descr="formula_imgs/f_w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875" y="4078224"/>
            <a:ext cx="637297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串聯關係：最軟的彈簧主宰整體</a:t>
            </a:r>
            <a:endParaRPr lang="en-US" sz="1300" dirty="0"/>
          </a:p>
        </p:txBody>
      </p:sp>
      <p:pic>
        <p:nvPicPr>
          <p:cNvPr id="19" name="Image 3" descr="formula_imgs/f_seri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314" y="5193792"/>
            <a:ext cx="486809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三個最常見的分母錯誤：用切線勁度 kd、用單顆支承的勁度、用 1/2·k0·Dy²。分母錯了，阻尼比連帶 B1 全錯，力與位移一起偏掉。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LRB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LRB 的一切都寫在這個迴圈裡：割線給勁度，面積給阻尼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4-bilinear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4028"/>
            <a:ext cx="6501384" cy="38243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四個常數就決定整個元件：Qd = 600 tf（特徵強度）、k0 = 500、kd = 50 tf/cm、α = 0.1。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由它們反推 Fy = Qd/(1−α) = 667 tf、Dy = Fy/k0 = 1.33 cm —— Dy 不是另外給的，是算出來的。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割線 Keff = Qd/D + kd。D = 18.42 cm 時 Keff = 82.6 tf/cm，對應 Teff = 2.42 s。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 WD = 4Qd(D − Dy) = 41,010 tf·cm。少扣 Dy 會把 WD 高估 8%，阻尼比跟著虛胖。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迴圈右上角是沿 k0 卸載的，要走 2Dy = 2.67 cm 才回到另一條骨幹線 —— 這就是它是平行四邊形而不是矩形的原因。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LRB 鉛心橡膠支承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雙線性模型：四個常數與兩條導出關係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特徵強度與降伏位移（由 Fy、k0、α 互推）</a:t>
            </a:r>
            <a:endParaRPr lang="en-US" sz="1300" dirty="0"/>
          </a:p>
        </p:txBody>
      </p:sp>
      <p:pic>
        <p:nvPicPr>
          <p:cNvPr id="7" name="Image 0" descr="formula_imgs/f_lrb_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3188" y="1847088"/>
            <a:ext cx="417834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骨幹曲線（降伏後）</a:t>
            </a:r>
            <a:endParaRPr lang="en-US" sz="1300" dirty="0"/>
          </a:p>
        </p:txBody>
      </p:sp>
      <p:pic>
        <p:nvPicPr>
          <p:cNvPr id="11" name="Image 1" descr="formula_imgs/f_lrb_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855" y="2962656"/>
            <a:ext cx="504300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有效勁度 —— 隨位移下降，所以必須迭代</a:t>
            </a:r>
            <a:endParaRPr lang="en-US" sz="1300" dirty="0"/>
          </a:p>
        </p:txBody>
      </p:sp>
      <p:pic>
        <p:nvPicPr>
          <p:cNvPr id="15" name="Image 2" descr="formula_imgs/f_lrb_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28" y="4078224"/>
            <a:ext cx="309506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一圈遲滯面積 —— 平行四邊形，務必扣掉 Dy</a:t>
            </a:r>
            <a:endParaRPr lang="en-US" sz="1300" dirty="0"/>
          </a:p>
        </p:txBody>
      </p:sp>
      <p:pic>
        <p:nvPicPr>
          <p:cNvPr id="19" name="Image 3" descr="formula_imgs/f_lrb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337" y="5193792"/>
            <a:ext cx="626604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 = Qd/D + kd 這條式子告訴你一件重要的事：位移愈大、Keff 愈小、週期愈長。所以大地震下隔震系統會「自動變軟」，這正是它保護上部結構的機制。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高頻掉分點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取錯勁度，週期就整個跑掉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5-secant-vs-tan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7002"/>
            <a:ext cx="6501384" cy="35183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割線 Keff = 82.6 tf/cm ⇒ T = 2.42 s，這是唯一正確的取法。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誤取降伏後切線 kd = 50 ⇒ T = 3.11 s，偏長 29%：位移被高估、力被低估。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誤取初始勁度 k0 = 500 ⇒ T = 0.98 s，偏短 59%：等於完全沒隔震到，力被大幅高估。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判斷法只有一句話：割線必須同時通過「原點」與「本輪迭代的最大位移點」。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等效線性化的整套理論建立在「同一個最大位移下，線性系統與非線性系統儲存相同的應變能」。這個條件只有割線滿足，切線不滿足。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FPS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FPS：回復力來自幾何，阻尼來自摩擦，週期與重量無關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6-fps-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5806"/>
            <a:ext cx="6501384" cy="37007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滑動面是半徑 R 的球面。滑塊偏離 D 時，重力分量提供回復力 W·D/R —— 純幾何，與材料無關。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 k = W/R 與質量 m = W/g 同時正比於 W，代進 T = 2π√(m/k) 之後 W 被約掉：T = 2π√(R/g)。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R = 220 cm ⇒ 單擺週期 2.98 s。建築加重、減重、改用途，這個週期都不會變。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但含摩擦項的「有效週期」會隨位移改變：D = 15.45 cm 時 Teff = 2.19 s，兩者不是同一個東西。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這個性質在實務上很值錢：質量估計誤差不會反映到隔震週期上，設計的不確定性比 LRB 低。代價是摩擦係數對溫度、速度與磨耗敏感。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FPS 摩擦單擺支承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一個曲率半徑、一個摩擦係數，就全部決定了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單擺週期 —— 與建築重量完全無關</a:t>
            </a:r>
            <a:endParaRPr lang="en-US" sz="1300" dirty="0"/>
          </a:p>
        </p:txBody>
      </p:sp>
      <p:pic>
        <p:nvPicPr>
          <p:cNvPr id="7" name="Image 0" descr="formula_imgs/f_fp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0460" y="1847088"/>
            <a:ext cx="404380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有效勁度 = 幾何回復項 ＋ 摩擦項</a:t>
            </a:r>
            <a:endParaRPr lang="en-US" sz="1300" dirty="0"/>
          </a:p>
        </p:txBody>
      </p:sp>
      <p:pic>
        <p:nvPicPr>
          <p:cNvPr id="11" name="Image 1" descr="formula_imgs/f_fps_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005" y="2962656"/>
            <a:ext cx="193270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一圈遲滯面積（Dy 趨近於零，所以不必扣）</a:t>
            </a:r>
            <a:endParaRPr lang="en-US" sz="1300" dirty="0"/>
          </a:p>
        </p:txBody>
      </p:sp>
      <p:pic>
        <p:nvPicPr>
          <p:cNvPr id="15" name="Image 2" descr="formula_imgs/f_fp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374" y="4078224"/>
            <a:ext cx="420997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速算：最大傳遞力比與等效阻尼比</a:t>
            </a:r>
            <a:endParaRPr lang="en-US" sz="1300" dirty="0"/>
          </a:p>
        </p:txBody>
      </p:sp>
      <p:pic>
        <p:nvPicPr>
          <p:cNvPr id="19" name="Image 3" descr="formula_imgs/f_fps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02" y="5193792"/>
            <a:ext cx="379431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ξeq = 2μ/(πA) 是把 WD = 4μWD 與 Keff = W/R + μW/D 代進 ξ = WD/(2πKeffD²) 化簡的結果，不是另一條獨立公式。考場上忘了就現推，三行就出來。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統一觀點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兩種支承其實共用同一條公式：WD = 4Q(D − Dy)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7-loop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63263"/>
            <a:ext cx="6501384" cy="36458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LRB：Q 是鉛心的特徵強度 Qd = 600 tf，Dy = 1.33 cm 佔 D 的 7%，不可忽略。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FPS：Q 是摩擦力 μW = 720 tf，起滑位移趨近於零，公式退化成 WD = 4μWD。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所以「FPS 不用扣 Dy」不是特例，而是 Dy ≈ 0 的自然結果 —— 記一條公式就夠了。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WD 分別是 41,010 與 44,507 tf·cm，FPS 略高，因此阻尼比也較高（29.3% vs 23.3%）。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分母一律用系統的割線勁度：ξ = WD/(2π·Keff·D²)。用單顆支承的勁度、或用 kd 當分母，都會算錯阻尼比。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隔震選型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LRB 與 FPS：拿到題目先看它動的是哪一組參數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  <a:gridCol w="338328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LRB 鉛心橡膠支承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FPS 摩擦單擺支承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考場辨識關鍵字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物理機制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橡膠提供回復力、鉛心剪切塑化消能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球面重力提供回復力、滑動摩擦消能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給 Qd / k0 / kd → LRB；給 R / μ → FPS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週期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 = 2π√(W/gKeff)，依賴重量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 = 2π√(R/g)，與重量完全無關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題目問「加重後週期如何變」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有效勁度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Keff = Qd/D + kd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Keff = W/R + μW/D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兩者都是 D 的函數 ⇒ 都要迭代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遲滯面積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WD = 4Qd(D − Dy)，Dy 必須扣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WD = 4μWD，Dy ≈ 0 不必扣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有沒有給 Dy 或 k0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速算式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—（老實代等效線性化）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= D/R + μ、ξe = 2μ/(πA)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只給 R、μ、D 就是要你用速算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阻尼折減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B1 怎麼查、怎麼內插，以及為什麼不是 BS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9-b1-int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65245"/>
            <a:ext cx="6501384" cy="34419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隔震後 Teff 落在 2～4 s，屬於長週期段，一律查 B1；BS 是短週期段用的。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LRB：ξ = 23.3%，在 20%（1.50）與 30%（1.70）之間線性內插得 B1 = 1.566。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FPS：ξ = 29.3% ⇒ B1 = 1.687。摩擦型阻尼比高，折減也更大。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 ξ 若誤查 BS = 1.96，力會被低估 25% —— 這是整份考卷最容易被扣分的一個查表動作。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力與位移必須用同一個 B1 折減。只折減其中一個，等於在同一張譜上用了兩種阻尼比。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設計量與收斂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算完 Keff 與 ξeq 之後，該產出什麼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隔震層設計位移（折減後）</a:t>
            </a:r>
            <a:endParaRPr lang="en-US" sz="1300" dirty="0"/>
          </a:p>
        </p:txBody>
      </p:sp>
      <p:pic>
        <p:nvPicPr>
          <p:cNvPr id="7" name="Image 0" descr="formula_imgs/f_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5549" y="1847088"/>
            <a:ext cx="463362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基底剪力 —— 兩種算法必須相等，是很好的自我檢查</a:t>
            </a:r>
            <a:endParaRPr lang="en-US" sz="1300" dirty="0"/>
          </a:p>
        </p:txBody>
      </p:sp>
      <p:pic>
        <p:nvPicPr>
          <p:cNvPr id="11" name="Image 1" descr="formula_imgs/f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969" y="2962656"/>
            <a:ext cx="312278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含扭轉的總設計位移（規範要求的最終檢核值）</a:t>
            </a:r>
            <a:endParaRPr lang="en-US" sz="1300" dirty="0"/>
          </a:p>
        </p:txBody>
      </p:sp>
      <p:pic>
        <p:nvPicPr>
          <p:cNvPr id="15" name="Image 2" descr="formula_imgs/f_dt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800" y="4078224"/>
            <a:ext cx="280711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收斂判準</a:t>
            </a:r>
            <a:endParaRPr lang="en-US" sz="1300" dirty="0"/>
          </a:p>
        </p:txBody>
      </p:sp>
      <p:pic>
        <p:nvPicPr>
          <p:cNvPr id="19" name="Image 3" descr="formula_imgs/f_con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338" y="5193792"/>
            <a:ext cx="3782045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Vb = Keff·D 與 Vb = W·Sa,eff 兩條路算出來必須一致（本例都是 1,521 tf）。若不一致，代表 Keff、D、B1 之中至少有一個沒有更新到同一輪。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為什麼要迭代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迭代在找的是「代進去的位移」與「算出來的位移」相等的那一點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8-it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1506"/>
            <a:ext cx="6501384" cy="35693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 是 D 的函數 ⇒ Teff 是 D 的函數 ⇒ Sa 是 D 的函數；ξeq 也是 D 的函數 ⇒ B1 也是。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所以無法一次解出，只能猜一個 D 進去，看吐出來的 D 對不對得上 —— 這就是蛛網圖。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曲線比 45° 線平緩，代表映射是收斂的；本例每輪誤差約縮小 3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1 輪 20.0 → 19.0（誤差 5.2%），第 2 輪 19.0 → 18.6（誤差 1.8%），已進 5% 判準。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考場上寫兩輪、附上收斂判準與誤差百分比，就是一份完整答案。只算一輪就交卷，第一輪的 20 cm 與定案差 9%，位移檢核會整個失真。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示範建築配 LRB：求設計位移與基底剪力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12,000 tf、初猜 20 cm，兩輪收斂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SD-U3-2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初猜 D = 20 cm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Qd=600、kd=50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 = Qd/D + kd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80.0 tf/cm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Teff = 2π√(W/gKeff)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2.457 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WD = 4Qd(D−Dy)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44,800 tf·cm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 = WD/(2πKeffD²)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22.3%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內插查表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= 1.546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D_new = gSaT²/4π²B1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18.96 cm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5.2%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大於 5%？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2 輪：D = 18.96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⇒ 18.61（誤差 1.8%）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18.4 cm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Vb = 1,521 tf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V/W = 12.7%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初猜要怎麼猜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D ≈ (g/4π²)·S_D1·T/B1 反算：假設 T ≈ 2.5 s、B1 ≈ 1.5，馬上得 20 cm 左右。猜得好可以少一輪，但猜得差也只是多算一輪，不影響最終答案。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三個必做的驗證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 用割線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Qd/D + kd，不是 kd、也不是 k0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WD 要扣 Dy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4Qd(D − Dy)，Dy = 1.33 cm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兩條路算 Vb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Keff·D 與 W·Sa/B1 必須相等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結果對照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同一棟建築：LRB 與 FPS 各自付出什麼、換到什麼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0-lrb-vs-f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28984"/>
            <a:ext cx="6501384" cy="33144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基底剪力幾乎打平：LRB 12.68% vs FPS 13.02%，差不到 3%。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位移差很多：LRB 18.4 cm、FPS 15.5 cm —— 因為 FPS 的摩擦阻尼比較高（29.3% vs 23.3%）。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週期則相反：LRB 2.42 s 比 FPS 2.19 s 長，因為 FPS 的摩擦項把 Keff 撐高了。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選型不是比誰的力小，而是比誰的位移、耐久性與造價在這個案子裡比較好接受。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的摩擦係數對溫度與滑動速度敏感，規範通常要求用上下限兩組 μ 各算一次，取包絡。LRB 的鉛心性質相對穩定，但支承尺寸要做得更大。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消能減震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速度型阻尼器與彈性力差 90°：不能把兩個峰值直接相加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1-fvd-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1506"/>
            <a:ext cx="6501384" cy="35693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阻尼力正比於速度，而速度與位移差 90°：最大位移時阻尼力恰為零，位移過零時阻尼力最大。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 FVD「只加阻尼、不加勁度」的物理根據 —— 它在結構變形最大的那一瞬完全不出力。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合力峰值是向量和：√(1 + (2ξd)²) = 1.044，不是 1 + 0.30 = 1.30，直接相加會高估 25%。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所以設計要分別檢核最大位移、最大速度、最大加速度三個狀態，再取包絡。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斜撐角 θ = 30° 時，有效阻尼要乘 cos²θ = 0.75（力投影一次、位移投影一次）。本例要 C = 38.4 tf·s/cm 才換到 Δξ = 15%。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速度型阻尼器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黏滯阻尼器：出力、附加阻尼與斜撐投影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阻尼器出力（β = 1 為線性黏滯）</a:t>
            </a:r>
            <a:endParaRPr lang="en-US" sz="1300" dirty="0"/>
          </a:p>
        </p:txBody>
      </p:sp>
      <p:pic>
        <p:nvPicPr>
          <p:cNvPr id="7" name="Image 0" descr="formula_imgs/f_f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3773" y="1847088"/>
            <a:ext cx="603717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斜撐投影：力投影一次、位移投影一次，故乘 cos²θ</a:t>
            </a:r>
            <a:endParaRPr lang="en-US" sz="1300" dirty="0"/>
          </a:p>
        </p:txBody>
      </p:sp>
      <p:pic>
        <p:nvPicPr>
          <p:cNvPr id="11" name="Image 1" descr="formula_imgs/f_co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585" y="2962656"/>
            <a:ext cx="745555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附加阻尼比（單自由度、週期 T、勁度 k）</a:t>
            </a:r>
            <a:endParaRPr lang="en-US" sz="1300" dirty="0"/>
          </a:p>
        </p:txBody>
      </p:sp>
      <p:pic>
        <p:nvPicPr>
          <p:cNvPr id="15" name="Image 2" descr="formula_imgs/f_dx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89" y="4078224"/>
            <a:ext cx="161174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合力峰值是向量和，不是代數和</a:t>
            </a:r>
            <a:endParaRPr lang="en-US" sz="1300" dirty="0"/>
          </a:p>
        </p:txBody>
      </p:sp>
      <p:pic>
        <p:nvPicPr>
          <p:cNvPr id="19" name="Image 3" descr="formula_imgs/f_ph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964" y="5193792"/>
            <a:ext cx="603679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Δξ = πC·cos²θ/(Tk) 可以自己推：ξ = ceq/(2mω)，把 ceq = C·cos²θ、ω = 2π/T、m = kT²/4π² 代進去整理即得。記推導比記公式安全。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淨效益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加了阻尼器不等於力一定變小：先看它有沒有同時改變勁度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2-brb-vs-fv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99524"/>
            <a:ext cx="6501384" cy="3773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FVD 是垂直往下：週期不變 0.80 s，Sa 乾淨地被 B1 = 1.50 折減，力與位移同步降 33%。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BRB 是先往左、再往下：加 50% 勁度使 T 縮到 0.65 s，5% 譜加速度反而由 0.600 g 漲到 0.735 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BRB 的淨效益：力只少 9%（7,200 → 6,532 tf），位移卻少 40%（9.5 → 5.8 cm）。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所以要控制層間變位選 BRB，要降低構件設計力選 FVD —— 兩者的用途本來就不同。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 T 縮短到落回等加速度平台段（本例 T0 = 0.6 s 以內），Sa 會停在 SDS 不再上升，這時 BRB 的淨效益判斷又要重來一次。這就是為什麼位移型一定要重新分析估算。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TMD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TMD 的兩件事：調頻點反力抵消，再用阻尼把雙峰壓到等高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3-tmd-p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1506"/>
            <a:ext cx="6501384" cy="35693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機制一「反力抵消」：TMD 在調頻點反相振動，把外力抵掉。阻尼為零時抵消最乾淨，主結構位移趨近於零。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代價是原本一個共振峰分裂成兩個無窮大的新峰 —— 所以純粹的無阻尼 TMD 不能用。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機制二「阻尼消能」：加上 ξd 把雙峰壓下來。Den Hartog 最佳解讓兩峰等高，本例 √(1+2/μ) = 8.2。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調頻目標是主結構原本的自然頻率，不是外力頻率 —— 這是最常被寫反的一句話。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= 3% 的 TMD 折算成等效黏滯阻尼只有約 6%，遠不如隔震的 23%。而且地震是寬頻的，不保證落在調頻點上 —— TMD 的主戰場是風力與樓板舒適度，不是耐震。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TMD 調頻質量阻尼器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Den Hartog 最佳解：質量比決定一切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兩個無因次參數：質量比與頻率比</a:t>
            </a:r>
            <a:endParaRPr lang="en-US" sz="1300" dirty="0"/>
          </a:p>
        </p:txBody>
      </p:sp>
      <p:pic>
        <p:nvPicPr>
          <p:cNvPr id="7" name="Image 0" descr="formula_imgs/f_tmd_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7323" y="1847088"/>
            <a:ext cx="261007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最佳調頻比 —— 注意 TMD 要調得比主結構稍「慢」一點</a:t>
            </a:r>
            <a:endParaRPr lang="en-US" sz="1300" dirty="0"/>
          </a:p>
        </p:txBody>
      </p:sp>
      <p:pic>
        <p:nvPicPr>
          <p:cNvPr id="11" name="Image 1" descr="formula_imgs/f_tmd_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089" y="2962656"/>
            <a:ext cx="423054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最佳阻尼比</a:t>
            </a:r>
            <a:endParaRPr lang="en-US" sz="1300" dirty="0"/>
          </a:p>
        </p:txBody>
      </p:sp>
      <p:pic>
        <p:nvPicPr>
          <p:cNvPr id="15" name="Image 2" descr="formula_imgs/f_tmd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077" y="4078224"/>
            <a:ext cx="156656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最佳化之後的雙峰高度（用來估效益）</a:t>
            </a:r>
            <a:endParaRPr lang="en-US" sz="1300" dirty="0"/>
          </a:p>
        </p:txBody>
      </p:sp>
      <p:pic>
        <p:nvPicPr>
          <p:cNvPr id="19" name="Image 3" descr="formula_imgs/f_tmd_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286" y="5193792"/>
            <a:ext cx="211814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μ = 0.03：f_opt = 0.971、Td = 0.824 s、ξ_opt = 10.45%、雙峰 8.2、質量塊重 360 tf、行程約主結構位移的 4.8 倍。行程是 TMD 設計的真正瓶頸，屋頂要留得出那個空間。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考場作答流程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隔減震題三步 SOP：先認裝置、再選路線、最後迭代收尾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認裝置：題目給 Qd/k0/kd 就是 LRB；給 R/μ 就是 FPS；給 C 與斜撐角就是 FVD；給 md 與質量比就是 TMD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它動的是哪一個旋鈕？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9208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69208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動週期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＋必須迭代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0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57800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消能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0144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4328160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速度型只動阻尼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位移型連勁度一起動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要重算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3063240"/>
            <a:ext cx="3377184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6392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46392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77328" y="3355848"/>
            <a:ext cx="3121152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7705344" y="3355848"/>
            <a:ext cx="28651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動共振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f_opt = 1/(1+μ)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不必迭代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83536" y="4745736"/>
            <a:ext cx="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4745736"/>
            <a:ext cx="0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37904" y="4745736"/>
            <a:ext cx="-3377184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 Keff、Teff、ξeq → 查 B1 → 回算 D → 檢查收斂 → 產出 D 與 Vb，最後用三把量級尺驗算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順序不能顛倒：認錯裝置就會代錯 WD 公式；沒認出「位移型會改變週期」就會漏掉 Sa 反而變大的那一步。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收尾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先看取捨地圖選對工具，再用三把尺檢查數量級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d32-fig-14-schem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2857"/>
            <a:ext cx="6501384" cy="3726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取捨地圖：往左下走（力與位移同時變小）才是真的變好。隔震把力打到另一個量級，消能主要在收位移。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尺一：有效週期 Teff 約 2～4 s。小於 1.2 s 表示隔震層太硬，大於 6 s 多半算錯。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尺二：隔震層設計位移 D 約 15～40 cm。只有 5 cm 表示根本沒隔震到，超過 1 m 是公式代錯。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尺三：等效阻尼比 ξeq 約 15～30%。LRB 落在 20～25%，FPS 含摩擦可以到 30%。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這三把尺花不到十秒，卻能抓出絕大多數的代數與單位錯誤。答案寫完一定要回頭量一次。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隔減震｜等效線性化與兩種隔震支承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設計譜兩段</a:t>
            </a:r>
            <a:endParaRPr lang="en-US" sz="1050" dirty="0"/>
          </a:p>
        </p:txBody>
      </p:sp>
      <p:pic>
        <p:nvPicPr>
          <p:cNvPr id="7" name="Image 0" descr="formula_imgs/f_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83277"/>
            <a:ext cx="3416808" cy="3036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譜位移 D ∝ T</a:t>
            </a:r>
            <a:endParaRPr lang="en-US" sz="1050" dirty="0"/>
          </a:p>
        </p:txBody>
      </p:sp>
      <p:pic>
        <p:nvPicPr>
          <p:cNvPr id="11" name="Image 1" descr="formula_imgs/f_s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1974560"/>
            <a:ext cx="3416808" cy="3211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B1 折減（力與位移）</a:t>
            </a:r>
            <a:endParaRPr lang="en-US" sz="1050" dirty="0"/>
          </a:p>
        </p:txBody>
      </p:sp>
      <p:pic>
        <p:nvPicPr>
          <p:cNvPr id="15" name="Image 2" descr="formula_imgs/f_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239" y="1938528"/>
            <a:ext cx="3320763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割線勁度</a:t>
            </a:r>
            <a:endParaRPr lang="en-US" sz="1050" dirty="0"/>
          </a:p>
        </p:txBody>
      </p:sp>
      <p:pic>
        <p:nvPicPr>
          <p:cNvPr id="19" name="Image 3" descr="formula_imgs/f_ke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95703"/>
            <a:ext cx="3416808" cy="34538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有效週期</a:t>
            </a:r>
            <a:endParaRPr lang="en-US" sz="1050" dirty="0"/>
          </a:p>
        </p:txBody>
      </p:sp>
      <p:pic>
        <p:nvPicPr>
          <p:cNvPr id="23" name="Image 4" descr="formula_imgs/f_te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352" y="2971800"/>
            <a:ext cx="2104248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等效阻尼比</a:t>
            </a:r>
            <a:endParaRPr lang="en-US" sz="1050" dirty="0"/>
          </a:p>
        </p:txBody>
      </p:sp>
      <p:pic>
        <p:nvPicPr>
          <p:cNvPr id="27" name="Image 5" descr="formula_imgs/f_xie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773" y="2971800"/>
            <a:ext cx="1603693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分母用系統勁度</a:t>
            </a:r>
            <a:endParaRPr lang="en-US" sz="1050" dirty="0"/>
          </a:p>
        </p:txBody>
      </p:sp>
      <p:pic>
        <p:nvPicPr>
          <p:cNvPr id="31" name="Image 6" descr="formula_imgs/f_w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54594"/>
            <a:ext cx="3416808" cy="29414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串聯彈簧</a:t>
            </a:r>
            <a:endParaRPr lang="en-US" sz="1050" dirty="0"/>
          </a:p>
        </p:txBody>
      </p:sp>
      <p:pic>
        <p:nvPicPr>
          <p:cNvPr id="35" name="Image 7" descr="formula_imgs/f_serie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09129"/>
            <a:ext cx="3416808" cy="38507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LRB：Qd 與 Dy</a:t>
            </a:r>
            <a:endParaRPr lang="en-US" sz="1050" dirty="0"/>
          </a:p>
        </p:txBody>
      </p:sp>
      <p:pic>
        <p:nvPicPr>
          <p:cNvPr id="39" name="Image 8" descr="formula_imgs/f_lrb_q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6380" y="4005072"/>
            <a:ext cx="2994479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LRB：骨幹線</a:t>
            </a:r>
            <a:endParaRPr lang="en-US" sz="1050" dirty="0"/>
          </a:p>
        </p:txBody>
      </p:sp>
      <p:pic>
        <p:nvPicPr>
          <p:cNvPr id="43" name="Image 9" descr="formula_imgs/f_lrb_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49079"/>
            <a:ext cx="3416808" cy="3717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LRB：有效勁度</a:t>
            </a:r>
            <a:endParaRPr lang="en-US" sz="1050" dirty="0"/>
          </a:p>
        </p:txBody>
      </p:sp>
      <p:pic>
        <p:nvPicPr>
          <p:cNvPr id="47" name="Image 10" descr="formula_imgs/f_lrb_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5412" y="5038344"/>
            <a:ext cx="2218129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LRB：遲滯面積</a:t>
            </a:r>
            <a:endParaRPr lang="en-US" sz="1050" dirty="0"/>
          </a:p>
        </p:txBody>
      </p:sp>
      <p:pic>
        <p:nvPicPr>
          <p:cNvPr id="51" name="Image 11" descr="formula_imgs/f_lrb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085356"/>
            <a:ext cx="3416808" cy="299168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FPS：單擺週期</a:t>
            </a:r>
            <a:endParaRPr lang="en-US" sz="1050" dirty="0"/>
          </a:p>
        </p:txBody>
      </p:sp>
      <p:pic>
        <p:nvPicPr>
          <p:cNvPr id="55" name="Image 12" descr="formula_imgs/f_fps_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304" y="6071616"/>
            <a:ext cx="2898056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FPS：有效勁度</a:t>
            </a:r>
            <a:endParaRPr lang="en-US" sz="1050" dirty="0"/>
          </a:p>
        </p:txBody>
      </p:sp>
      <p:pic>
        <p:nvPicPr>
          <p:cNvPr id="59" name="Image 13" descr="formula_imgs/f_fps_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01922" y="6071616"/>
            <a:ext cx="1385108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FPS：遲滯面積</a:t>
            </a:r>
            <a:endParaRPr lang="en-US" sz="1050" dirty="0"/>
          </a:p>
        </p:txBody>
      </p:sp>
      <p:pic>
        <p:nvPicPr>
          <p:cNvPr id="63" name="Image 14" descr="formula_imgs/f_fps_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05047" y="6071616"/>
            <a:ext cx="3017147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隔減震｜FPS 速算、設計量、消能與 TMD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速算（A 與 ξe）</a:t>
            </a:r>
            <a:endParaRPr lang="en-US" sz="1050" dirty="0"/>
          </a:p>
        </p:txBody>
      </p:sp>
      <p:pic>
        <p:nvPicPr>
          <p:cNvPr id="7" name="Image 0" descr="formula_imgs/f_fps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702" y="1938528"/>
            <a:ext cx="2719260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基底剪力</a:t>
            </a:r>
            <a:endParaRPr lang="en-US" sz="1050" dirty="0"/>
          </a:p>
        </p:txBody>
      </p:sp>
      <p:pic>
        <p:nvPicPr>
          <p:cNvPr id="11" name="Image 1" descr="formula_imgs/f_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479" y="1938528"/>
            <a:ext cx="2237994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含扭轉總位移</a:t>
            </a:r>
            <a:endParaRPr lang="en-US" sz="1050" dirty="0"/>
          </a:p>
        </p:txBody>
      </p:sp>
      <p:pic>
        <p:nvPicPr>
          <p:cNvPr id="15" name="Image 2" descr="formula_imgs/f_dt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7736" y="1938528"/>
            <a:ext cx="2011769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收斂判準</a:t>
            </a:r>
            <a:endParaRPr lang="en-US" sz="1050" dirty="0"/>
          </a:p>
        </p:txBody>
      </p:sp>
      <p:pic>
        <p:nvPicPr>
          <p:cNvPr id="19" name="Image 3" descr="formula_imgs/f_con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99" y="2971800"/>
            <a:ext cx="2710466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FVD 出力</a:t>
            </a:r>
            <a:endParaRPr lang="en-US" sz="1050" dirty="0"/>
          </a:p>
        </p:txBody>
      </p:sp>
      <p:pic>
        <p:nvPicPr>
          <p:cNvPr id="23" name="Image 4" descr="formula_imgs/f_fv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013141"/>
            <a:ext cx="3416808" cy="31050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斜撐投影 cos²θ</a:t>
            </a:r>
            <a:endParaRPr lang="en-US" sz="1050" dirty="0"/>
          </a:p>
        </p:txBody>
      </p:sp>
      <p:pic>
        <p:nvPicPr>
          <p:cNvPr id="27" name="Image 5" descr="formula_imgs/f_cos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042678"/>
            <a:ext cx="3416808" cy="25143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FVD 附加阻尼</a:t>
            </a:r>
            <a:endParaRPr lang="en-US" sz="1050" dirty="0"/>
          </a:p>
        </p:txBody>
      </p:sp>
      <p:pic>
        <p:nvPicPr>
          <p:cNvPr id="31" name="Image 6" descr="formula_imgs/f_dx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791" y="4005072"/>
            <a:ext cx="1155082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合力是向量和</a:t>
            </a:r>
            <a:endParaRPr lang="en-US" sz="1050" dirty="0"/>
          </a:p>
        </p:txBody>
      </p:sp>
      <p:pic>
        <p:nvPicPr>
          <p:cNvPr id="35" name="Image 7" descr="formula_imgs/f_ph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46404"/>
            <a:ext cx="3416808" cy="31052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BRB 使週期縮短</a:t>
            </a:r>
            <a:endParaRPr lang="en-US" sz="1050" dirty="0"/>
          </a:p>
        </p:txBody>
      </p:sp>
      <p:pic>
        <p:nvPicPr>
          <p:cNvPr id="39" name="Image 8" descr="formula_imgs/f_brb_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634" y="4005072"/>
            <a:ext cx="3031971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BRB 淨效益要重算</a:t>
            </a:r>
            <a:endParaRPr lang="en-US" sz="1050" dirty="0"/>
          </a:p>
        </p:txBody>
      </p:sp>
      <p:pic>
        <p:nvPicPr>
          <p:cNvPr id="43" name="Image 9" descr="formula_imgs/f_brb_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47099"/>
            <a:ext cx="3416808" cy="37568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兩個參數</a:t>
            </a:r>
            <a:endParaRPr lang="en-US" sz="1050" dirty="0"/>
          </a:p>
        </p:txBody>
      </p:sp>
      <p:pic>
        <p:nvPicPr>
          <p:cNvPr id="47" name="Image 10" descr="formula_imgs/f_tmd_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9199" y="5038344"/>
            <a:ext cx="1870553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最佳調頻比</a:t>
            </a:r>
            <a:endParaRPr lang="en-US" sz="1050" dirty="0"/>
          </a:p>
        </p:txBody>
      </p:sp>
      <p:pic>
        <p:nvPicPr>
          <p:cNvPr id="51" name="Image 11" descr="formula_imgs/f_tmd_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7675" y="5038344"/>
            <a:ext cx="3031889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最佳阻尼比</a:t>
            </a:r>
            <a:endParaRPr lang="en-US" sz="1050" dirty="0"/>
          </a:p>
        </p:txBody>
      </p:sp>
      <p:pic>
        <p:nvPicPr>
          <p:cNvPr id="55" name="Image 12" descr="formula_imgs/f_tmd_x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3979" y="6071616"/>
            <a:ext cx="1122705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雙峰高度</a:t>
            </a:r>
            <a:endParaRPr lang="en-US" sz="1050" dirty="0"/>
          </a:p>
        </p:txBody>
      </p:sp>
      <p:pic>
        <p:nvPicPr>
          <p:cNvPr id="59" name="Image 13" descr="formula_imgs/f_tmd_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5473" y="6071616"/>
            <a:ext cx="1518006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把總重 W 當質量代進根號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2π√(m/Keff) 的 m = W/g。本例 W = 12,000 tf 對應 m = 12.232 tf·s²/cm，忘記除以 g 會讓週期差 31 倍。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Keff 取成切線勁度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等效線性化只認「過原點到最大位移」的割線。誤取 kd 週期偏長 29%，誤取 k0 偏短 59%，兩者都足以讓整題報銷。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WD 忘了扣降伏位移 Dy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的迴圈是平行四邊形，WD = 4Qd(D − Dy)。本例 Dy = 1.33 cm，漏扣會把 WD 高估 8%、阻尼比虛胖。FPS 因 Dy ≈ 0 才不必扣。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查成 BS 或只折減其中一個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隔震週期在長週期段，一律查 B1。ξ = 23.3% 時 B1 = 1.566、BS = 1.96，差 25%；而且力與位移必須用同一個 B1。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只算一輪就把 D 當答案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Keff 與 ξeq 都是 D 的函數。本例初猜 20 cm 與定案 18.4 cm 差 9%，隔震溝與管線的位移檢核會整個失真。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以為加阻尼器力一定變小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位移型（BRB）同時增加勁度，週期左移可能讓 Sa 反而變大。本例力只降 9%、位移卻降 40% —— 淨效益必須重新分析，不能想當然耳。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隔減震原理｜重點回顧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0792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7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一句話：隔震用「週期」把力打下來，用「阻尼」把位移收回來 —— 兩件事互補，不是二選一。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5328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2724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005328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通關手續只有一套：割線 Keff、有效週期 Teff、等效阻尼比 ξeq = WD/(2π·Keff·D²)，然後迭代到收斂。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4656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84657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46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724656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與 FPS 共用 WD = 4Q(D − Dy)，差別只在 Q 是 Qd 還是 μW、Dy 大不大；FPS 的單擺週期與重量無關。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56590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65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443984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消能要先問它動不動勁度：速度型只加阻尼、垂直往下；位移型連週期一起改，Sa 可能反而上升。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63312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28523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163312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靠調頻抵消加阻尼壓峰，對地震效益有限（μ = 3% 只折算到約 6% 阻尼），主戰場是風力與舒適度。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88264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600456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600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88264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收尾三把尺：Teff 約 2～4 s、D 約 15～40 cm、ξeq 約 15～30%。不合就回頭找單位或勁度的錯。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2026-09-16T13:19:00Z</dcterms:created>
  <dcterms:modified xsi:type="dcterms:W3CDTF">2026-09-16T13:19:00Z</dcterms:modified>
</cp:coreProperties>
</file>
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image" Target="../media/image-28-8.png"/><Relationship Id="rId9" Type="http://schemas.openxmlformats.org/officeDocument/2006/relationships/image" Target="../media/image-28-9.png"/><Relationship Id="rId10" Type="http://schemas.openxmlformats.org/officeDocument/2006/relationships/image" Target="../media/image-28-10.png"/><Relationship Id="rId11" Type="http://schemas.openxmlformats.org/officeDocument/2006/relationships/image" Target="../media/image-28-11.png"/><Relationship Id="rId12" Type="http://schemas.openxmlformats.org/officeDocument/2006/relationships/image" Target="../media/image-28-12.png"/><Relationship Id="rId13" Type="http://schemas.openxmlformats.org/officeDocument/2006/relationships/image" Target="../media/image-28-13.png"/><Relationship Id="rId14" Type="http://schemas.openxmlformats.org/officeDocument/2006/relationships/image" Target="../media/image-28-14.png"/><Relationship Id="rId15" Type="http://schemas.openxmlformats.org/officeDocument/2006/relationships/image" Target="../media/image-28-15.png"/><Relationship Id="rId16" Type="http://schemas.openxmlformats.org/officeDocument/2006/relationships/image" Target="../media/image-28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image" Target="../media/image-29-7.png"/><Relationship Id="rId8" Type="http://schemas.openxmlformats.org/officeDocument/2006/relationships/image" Target="../media/image-29-8.png"/><Relationship Id="rId9" Type="http://schemas.openxmlformats.org/officeDocument/2006/relationships/image" Target="../media/image-29-9.png"/><Relationship Id="rId10" Type="http://schemas.openxmlformats.org/officeDocument/2006/relationships/image" Target="../media/image-29-10.png"/><Relationship Id="rId11" Type="http://schemas.openxmlformats.org/officeDocument/2006/relationships/image" Target="../media/image-29-11.png"/><Relationship Id="rId12" Type="http://schemas.openxmlformats.org/officeDocument/2006/relationships/image" Target="../media/image-29-12.png"/><Relationship Id="rId13" Type="http://schemas.openxmlformats.org/officeDocument/2006/relationships/image" Target="../media/image-29-13.png"/><Relationship Id="rId14" Type="http://schemas.openxmlformats.org/officeDocument/2006/relationships/image" Target="../media/image-29-14.png"/><Relationship Id="rId15" Type="http://schemas.openxmlformats.org/officeDocument/2006/relationships/image" Target="../media/image-29-15.png"/><Relationship Id="rId16" Type="http://schemas.openxmlformats.org/officeDocument/2006/relationships/image" Target="../media/image-29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188720"/>
            <a:ext cx="2926080" cy="2926080"/>
          </a:xfrm>
          <a:prstGeom prst="ellipse">
            <a:avLst/>
          </a:prstGeom>
          <a:solidFill>
            <a:srgbClr val="4C6B8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-457200"/>
            <a:ext cx="1463040" cy="1463040"/>
          </a:xfrm>
          <a:prstGeom prst="ellipse">
            <a:avLst/>
          </a:prstGeom>
          <a:solidFill>
            <a:srgbClr val="E8734A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SD-U1-1　結構動力學｜觀念講義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結構動力基本性質及原理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整個單元的核心只在算兩個數字：週期 T（能量搬運多快）與阻尼比 ξ（能量漏掉多少）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2450592" cy="457200"/>
          </a:xfrm>
          <a:prstGeom prst="roundRect">
            <a:avLst>
              <a:gd name="adj" fmla="val 16000"/>
            </a:avLst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617720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理解導向 ‧ 五題微型例題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SD-U1-1 結構動力基本性質及原理｜觀念講義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TOPIC 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本單元四大主題 —— 全部掛在同一條因果鏈上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建模：抓對 m 與 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質量必須用 m = W/g；勁度由柱端邊界條件決定（12EI/h³ 或 3EI/h³），同層並聯相加、疊層串聯取柔度。這一步錯，後面全錯。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4496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28816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自由振動與阻尼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28816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ω_D = ω√(1−ξ²) 幾乎等於 ω —— 阻尼只改包絡線 e^(−ξωt)。由實測衰減用對數衰減率 δ 反推 ξ，是唯一的量測入口。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強迫振動：頻率比 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 = Ω/ω 決定一切。外力直接作用 → DMF；支承（地動）輸入 → TR。共振時 DMF = 1/(2ξ)，r &gt; √2 才進入隔震有效區。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54496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28816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多自由度與反應譜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28816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 個自由度有 N 組（T, 振態）；考場用 Rayleigh 商一分鐘估 T₁。最後拿 (T, ξ) 查反應譜換回 Sa，得到 F = m·Sa。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 d1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為什麼整個單元只需要兩個數字？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d1 底層邏輯與兩個關鍵數字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建築被簡化成三個元件：m 存動能、k 存位能、c 把振動能變成熱。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保守部分（m、k）決定能量來回搬運的節奏 → 週期 T；耗散部分（c）決定每圈漏掉多少 → 阻尼比 ξ。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所有題型都在這條鏈上：算 m、k → ω → T → 查譜 Sa(T, ξ) → F = m·Sa。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看到題目先問自己：它要 T 還是要 ξ？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F1 基本量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四條定義式 —— 這一頁背熟，單元就過了一半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自然圓頻率</a:t>
            </a:r>
            <a:endParaRPr lang="en-US" sz="1300" dirty="0"/>
          </a:p>
        </p:txBody>
      </p:sp>
      <p:pic>
        <p:nvPicPr>
          <p:cNvPr id="7" name="Image 0" descr="formula_imgs/f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0440" y="1847088"/>
            <a:ext cx="2783840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週期與頻率</a:t>
            </a:r>
            <a:endParaRPr lang="en-US" sz="1300" dirty="0"/>
          </a:p>
        </p:txBody>
      </p:sp>
      <p:pic>
        <p:nvPicPr>
          <p:cNvPr id="11" name="Image 1" descr="formula_imgs/f1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6055" y="2962656"/>
            <a:ext cx="3412610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阻尼比（無因次）</a:t>
            </a:r>
            <a:endParaRPr lang="en-US" sz="1300" dirty="0"/>
          </a:p>
        </p:txBody>
      </p:sp>
      <p:pic>
        <p:nvPicPr>
          <p:cNvPr id="15" name="Image 2" descr="formula_imgs/f1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8902" y="4078224"/>
            <a:ext cx="2646915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質量（最常錯的一步）</a:t>
            </a:r>
            <a:endParaRPr lang="en-US" sz="1300" dirty="0"/>
          </a:p>
        </p:txBody>
      </p:sp>
      <p:pic>
        <p:nvPicPr>
          <p:cNvPr id="19" name="Image 3" descr="formula_imgs/f1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8751" y="5193792"/>
            <a:ext cx="3487219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ω 的單位是 rad/s、f 是 Hz，兩者差 2π 倍 —— 寫答案前先確認題目問哪一個。ξ 是無因次比值，題目直接給 c 時要先算 c_cr。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 d2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勁度 k 從哪裡來？為什麼邊界條件一改就差 4 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d2 勁度來源與邊界條件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柱端被剛性樓版鎖住不能轉 → 雙曲率、柱中央出現反曲點（M = 0）→ k = 12EI/h³。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柱底鉸接（或柱頂無梁束制）→ 單曲率、鉸點曲率為零 → k = 3EI/h³，軟了 4 倍。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反曲點的意義：等於把一根柱拆成兩根半高懸臂，3EI/(h/2)³ = 24EI/h³，兩段串聯回到 12EI/h³。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勁度 ÷4 → 週期 ×2，因為 T ∝ 1/√k。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F2 勁度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側向勁度：兩個係數 ＋ 兩種組合方式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兩端固接（樓版剛性）</a:t>
            </a:r>
            <a:endParaRPr lang="en-US" sz="1300" dirty="0"/>
          </a:p>
        </p:txBody>
      </p:sp>
      <p:pic>
        <p:nvPicPr>
          <p:cNvPr id="7" name="Image 0" descr="formula_imgs/f2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4875" y="1847088"/>
            <a:ext cx="3634969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一端可自由轉動</a:t>
            </a:r>
            <a:endParaRPr lang="en-US" sz="1300" dirty="0"/>
          </a:p>
        </p:txBody>
      </p:sp>
      <p:pic>
        <p:nvPicPr>
          <p:cNvPr id="11" name="Image 1" descr="formula_imgs/f2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2309" y="2962656"/>
            <a:ext cx="4300102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並聯：位移相同</a:t>
            </a:r>
            <a:endParaRPr lang="en-US" sz="1300" dirty="0"/>
          </a:p>
        </p:txBody>
      </p:sp>
      <p:pic>
        <p:nvPicPr>
          <p:cNvPr id="15" name="Image 2" descr="formula_imgs/f2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0309" y="4078224"/>
            <a:ext cx="3084103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串聯：受力相同</a:t>
            </a:r>
            <a:endParaRPr lang="en-US" sz="1300" dirty="0"/>
          </a:p>
        </p:txBody>
      </p:sp>
      <p:pic>
        <p:nvPicPr>
          <p:cNvPr id="19" name="Image 3" descr="formula_imgs/f2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9441" y="5193792"/>
            <a:ext cx="2765838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口訣：被強迫走同一個位移 → 並聯（k 相加）；被強迫承受同一道力 → 串聯（1/k 相加，必定比最軟的還軟）。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 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微型例題①　單層剛性樓版框架：由樓重與柱斷面算 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0" y="566928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SD-U1-1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183112" cy="603504"/>
          </a:xfrm>
          <a:prstGeom prst="roundRect">
            <a:avLst>
              <a:gd name="adj" fmla="val 10606"/>
            </a:avLst>
          </a:prstGeom>
          <a:solidFill>
            <a:srgbClr val="DCE6F0"/>
          </a:solidFill>
          <a:ln/>
        </p:spPr>
      </p:sp>
      <p:sp>
        <p:nvSpPr>
          <p:cNvPr id="6" name="Text 4"/>
          <p:cNvSpPr/>
          <p:nvPr/>
        </p:nvSpPr>
        <p:spPr>
          <a:xfrm>
            <a:off x="630936" y="1271016"/>
            <a:ext cx="19805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樓版總重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30936" y="1472184"/>
            <a:ext cx="19805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 = 1200 kN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39542" y="131673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67558" y="1271016"/>
            <a:ext cx="19805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柱（4 根）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67558" y="1472184"/>
            <a:ext cx="19805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70×70 cm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976165" y="131673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04181" y="1271016"/>
            <a:ext cx="19805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柱淨高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04181" y="1472184"/>
            <a:ext cx="19805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 = 4 m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212787" y="131673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40803" y="1271016"/>
            <a:ext cx="19805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彈性模數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40803" y="1472184"/>
            <a:ext cx="19805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 = 2.5 × 10⁷ kN/m²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449410" y="131673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77426" y="1271016"/>
            <a:ext cx="19805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邊界條件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577426" y="1472184"/>
            <a:ext cx="19805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柱底固接、樓版剛性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2011680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2011680"/>
            <a:ext cx="552297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Shape 20"/>
          <p:cNvSpPr/>
          <p:nvPr/>
        </p:nvSpPr>
        <p:spPr>
          <a:xfrm>
            <a:off x="704088" y="2212848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" y="2212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24712" y="219456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算質量（不要用 W！）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58952" y="2615184"/>
            <a:ext cx="501091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 = W / g = 1200 / 9.81 = 122.324 kN·s²/m（= t）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若直接把 W = 1200 當成 m，ω 會暴增 √9.81 = 3.13 倍，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 被低估成原本的 32%。這是本單元第一大失分點。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54496" y="2011680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54496" y="2011680"/>
            <a:ext cx="552297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6455664" y="2212848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9" name="Text 27"/>
          <p:cNvSpPr/>
          <p:nvPr/>
        </p:nvSpPr>
        <p:spPr>
          <a:xfrm>
            <a:off x="6455664" y="2212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76288" y="219456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算單柱勁度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510528" y="2615184"/>
            <a:ext cx="501091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 = b⁴/12 = 0.7⁴/12 = 0.020008 m⁴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EI = 500,208 kN·m²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 = 12EI/h³ = 93,789 kN/m（每根柱）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02920" y="4032504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4032504"/>
            <a:ext cx="552297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Shape 32"/>
          <p:cNvSpPr/>
          <p:nvPr/>
        </p:nvSpPr>
        <p:spPr>
          <a:xfrm>
            <a:off x="704088" y="4233672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5" name="Text 33"/>
          <p:cNvSpPr/>
          <p:nvPr/>
        </p:nvSpPr>
        <p:spPr>
          <a:xfrm>
            <a:off x="704088" y="4233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24712" y="4215384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同層並聯 → 總勁度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758952" y="4636008"/>
            <a:ext cx="501091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 根柱被剛性樓版強迫走同一個 Δ → 並聯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 = 4 × 93,789 = 375,156 kN/m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54496" y="4032504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54496" y="4032504"/>
            <a:ext cx="552297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0" name="Shape 38"/>
          <p:cNvSpPr/>
          <p:nvPr/>
        </p:nvSpPr>
        <p:spPr>
          <a:xfrm>
            <a:off x="6455664" y="4233672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1" name="Text 39"/>
          <p:cNvSpPr/>
          <p:nvPr/>
        </p:nvSpPr>
        <p:spPr>
          <a:xfrm>
            <a:off x="6455664" y="4233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876288" y="4215384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 ω 與 T，再做量級檢查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6510528" y="4636008"/>
            <a:ext cx="501091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ω = √(K/m) = √(375,156 / 122.32) = 55.3796 rad/s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 = 2π/ω = 0.11346 s　f = 8.814 Hz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檢查：單層 RC 約 0.05~0.15 s ✔　若柱底改鉸接 → T = 0.2269 s（×2）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02920" y="5989320"/>
            <a:ext cx="11183112" cy="621792"/>
          </a:xfrm>
          <a:prstGeom prst="roundRect">
            <a:avLst>
              <a:gd name="adj" fmla="val 11765"/>
            </a:avLst>
          </a:prstGeom>
          <a:solidFill>
            <a:srgbClr val="1B2A41"/>
          </a:solidFill>
          <a:ln/>
        </p:spPr>
      </p:sp>
      <p:sp>
        <p:nvSpPr>
          <p:cNvPr id="45" name="Text 43"/>
          <p:cNvSpPr/>
          <p:nvPr/>
        </p:nvSpPr>
        <p:spPr>
          <a:xfrm>
            <a:off x="722376" y="5989320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答案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1417320" y="5989320"/>
            <a:ext cx="9994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 = 0.1135 s（ω = 55.380 rad/s）；誤把 W 當 m 會得到 0.3554 s —— 錯 3.13 倍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 d3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並聯變硬、串聯變軟 —— 看的是「誰被強迫一樣」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d3 並聯與串聯的組合勁度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同一層的柱：樓版剛性把它們強迫走同一個 Δ → 出力相加 → k_eq = Σkᵢ。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上下疊層或加一層隔震：同一道力依序穿過 → 變形累加 → 柔度相加 → k_eq 比最軟的還軟。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例題④：k_f = 643,889 與 k_b = 40,000 串聯後只剩 37,660 kN/m —— 幾乎等於 k_b。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軟弱層是同一個式子的負面版本：不可控的軟，位移全集中在那一層。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 d4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自由振動：阻尼只改「包絡線」，不改「節奏」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d4 自由振動三態與包絡線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ω_D = ω√(1−ξ²)。ξ = 0.05 時 ω_D/ω = 0.99875，週期只差 0.125% —— 可直接視為相等。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真正被阻尼改變的是包絡線 u₀·e^(−ξωt)：每過一個完整週期乘上 e^(−2πξ)。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ξ ≥ 1（臨界／過阻尼）就不再振盪，只是單向爬回原點；結構物離這裡很遠。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所以「多久振一次」問 m、k；「衰減多快」問 ξ，兩者不要混在一起算。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F3 自由振動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自由振動的完整解與三個衍生量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欠阻尼自由振動通解</a:t>
            </a:r>
            <a:endParaRPr lang="en-US" sz="1300" dirty="0"/>
          </a:p>
        </p:txBody>
      </p:sp>
      <p:pic>
        <p:nvPicPr>
          <p:cNvPr id="7" name="Image 0" descr="formula_imgs/f3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2925" y="1847088"/>
            <a:ext cx="5258870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阻尼頻率與阻尼週期</a:t>
            </a:r>
            <a:endParaRPr lang="en-US" sz="1300" dirty="0"/>
          </a:p>
        </p:txBody>
      </p:sp>
      <p:pic>
        <p:nvPicPr>
          <p:cNvPr id="11" name="Image 1" descr="formula_imgs/f3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2343" y="2962656"/>
            <a:ext cx="3160035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包絡線</a:t>
            </a:r>
            <a:endParaRPr lang="en-US" sz="1300" dirty="0"/>
          </a:p>
        </p:txBody>
      </p:sp>
      <p:pic>
        <p:nvPicPr>
          <p:cNvPr id="15" name="Image 2" descr="formula_imgs/f3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3263" y="4078224"/>
            <a:ext cx="2698194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臨界阻尼係數</a:t>
            </a:r>
            <a:endParaRPr lang="en-US" sz="1300" dirty="0"/>
          </a:p>
        </p:txBody>
      </p:sp>
      <p:pic>
        <p:nvPicPr>
          <p:cNvPr id="19" name="Image 3" descr="formula_imgs/f3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8575" y="5193792"/>
            <a:ext cx="6087569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通解只在初位移／初速度題型才需完整寫出；ξ &lt; 0.2 時 ω_D ≈ ω，不必每次都乘 √(1−ξ²)。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 d5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量 ξ 的唯一入口：對數衰減率的 n 數的是「間隔」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d5 對數衰減率與阻尼比量測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δ = (1/n)·ln(uᵢ/uᵢ₊ₙ)，其中 n 是兩個峰之間的「完整週期數」，不是峰的個數。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「第 1 峰到第 5 峰」→ n = 4。數成 5 會讓 ξ 低估 20%；整個漏掉除以 n 會高估 n 倍。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小阻尼時 δ ≈ 2πξ，ξ &lt; 0.10 的誤差不到 0.5%，考場可直接用 ξ = δ/2π。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本例 δ = 0.19963 → ξ = 3.177%，是典型的鋼／RC 混合值。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F4 對數衰減率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從實測衰減反推阻尼比的四條式子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對數衰減率定義</a:t>
            </a:r>
            <a:endParaRPr lang="en-US" sz="1300" dirty="0"/>
          </a:p>
        </p:txBody>
      </p:sp>
      <p:pic>
        <p:nvPicPr>
          <p:cNvPr id="7" name="Image 0" descr="formula_imgs/f4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5650" y="1847088"/>
            <a:ext cx="4013421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δ 與 ξ 的精確關係</a:t>
            </a:r>
            <a:endParaRPr lang="en-US" sz="1300" dirty="0"/>
          </a:p>
        </p:txBody>
      </p:sp>
      <p:pic>
        <p:nvPicPr>
          <p:cNvPr id="11" name="Image 1" descr="formula_imgs/f4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5516" y="2962656"/>
            <a:ext cx="1753689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反推阻尼比</a:t>
            </a:r>
            <a:endParaRPr lang="en-US" sz="1300" dirty="0"/>
          </a:p>
        </p:txBody>
      </p:sp>
      <p:pic>
        <p:nvPicPr>
          <p:cNvPr id="15" name="Image 2" descr="formula_imgs/f4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650" y="4078224"/>
            <a:ext cx="2217420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 個週期後的振幅比</a:t>
            </a:r>
            <a:endParaRPr lang="en-US" sz="1300" dirty="0"/>
          </a:p>
        </p:txBody>
      </p:sp>
      <p:pic>
        <p:nvPicPr>
          <p:cNvPr id="19" name="Image 3" descr="formula_imgs/f4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00" y="5193792"/>
            <a:ext cx="1874520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四條其實是同一件事的四種寫法。最常考：已知兩個峰值求 ξ（用前三條），或已知 ξ 求幾圈後剩多少振幅（用最後一條）。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 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微型例題②　自由振動實測 → 對數衰減率 → 整組動力性質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0" y="566928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SD-U1-1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183112" cy="603504"/>
          </a:xfrm>
          <a:prstGeom prst="roundRect">
            <a:avLst>
              <a:gd name="adj" fmla="val 10606"/>
            </a:avLst>
          </a:prstGeom>
          <a:solidFill>
            <a:srgbClr val="DCE6F0"/>
          </a:solidFill>
          <a:ln/>
        </p:spPr>
      </p:sp>
      <p:sp>
        <p:nvSpPr>
          <p:cNvPr id="6" name="Text 4"/>
          <p:cNvSpPr/>
          <p:nvPr/>
        </p:nvSpPr>
        <p:spPr>
          <a:xfrm>
            <a:off x="630936" y="1271016"/>
            <a:ext cx="25397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 1 峰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30936" y="1472184"/>
            <a:ext cx="25397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u₁ = 12 mm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98698" y="131673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6714" y="1271016"/>
            <a:ext cx="25397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 5 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26714" y="1472184"/>
            <a:ext cx="25397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u₅ = 5.4 mm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94476" y="131673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22492" y="1271016"/>
            <a:ext cx="25397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量測週期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22492" y="1472184"/>
            <a:ext cx="25397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T_D = 0.42 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890254" y="131673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18270" y="1271016"/>
            <a:ext cx="25397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結構重量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018270" y="1472184"/>
            <a:ext cx="25397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 = 800 kN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2011680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011680"/>
            <a:ext cx="552297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9" name="Shape 17"/>
          <p:cNvSpPr/>
          <p:nvPr/>
        </p:nvSpPr>
        <p:spPr>
          <a:xfrm>
            <a:off x="704088" y="2212848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2212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24712" y="219456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先確認 n 是多少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58952" y="2615184"/>
            <a:ext cx="501091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 1 峰到第 5 峰 → 中間跨過 4 個完整週期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 = 4（間隔數），不是 5（峰數）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數錯一格，ξ 直接錯 20%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54496" y="2011680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54496" y="2011680"/>
            <a:ext cx="552297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55664" y="2212848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6" name="Text 24"/>
          <p:cNvSpPr/>
          <p:nvPr/>
        </p:nvSpPr>
        <p:spPr>
          <a:xfrm>
            <a:off x="6455664" y="2212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76288" y="219456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算對數衰減率與阻尼比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510528" y="2615184"/>
            <a:ext cx="501091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δ = (1/4)·ln(12/5.4) = 0.19963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ξ ≈ δ/2π = 0.03177 = 3.177%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精確式 ξ = δ/√(4π²+δ²) = 0.03176（僅差 0.05%）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" y="4032504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4032504"/>
            <a:ext cx="552297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1" name="Shape 29"/>
          <p:cNvSpPr/>
          <p:nvPr/>
        </p:nvSpPr>
        <p:spPr>
          <a:xfrm>
            <a:off x="704088" y="4233672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" y="4233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24712" y="4215384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由 T_D 回推 ω 與 k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58952" y="4636008"/>
            <a:ext cx="501091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ω_D = 2π/T_D = 14.9600 rad/s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ω = ω_D/√(1−ξ²) = 14.9675 rad/s（幾乎相同）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 = W/g = 81.55 t → k = mω² = 18,269 kN/m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54496" y="4032504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54496" y="4032504"/>
            <a:ext cx="552297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7" name="Shape 35"/>
          <p:cNvSpPr/>
          <p:nvPr/>
        </p:nvSpPr>
        <p:spPr>
          <a:xfrm>
            <a:off x="6455664" y="4233672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8" name="Text 36"/>
          <p:cNvSpPr/>
          <p:nvPr/>
        </p:nvSpPr>
        <p:spPr>
          <a:xfrm>
            <a:off x="6455664" y="4233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76288" y="4215384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算阻尼係數與衰減行為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510528" y="4636008"/>
            <a:ext cx="501091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c_cr = 2mω = 2441.2 kN·s/m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 = ξ·c_cr = 77.52 kN·s/m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振幅衰減一半需要 ln2/(2πξ) = 3.47 個週期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02920" y="5989320"/>
            <a:ext cx="11183112" cy="621792"/>
          </a:xfrm>
          <a:prstGeom prst="roundRect">
            <a:avLst>
              <a:gd name="adj" fmla="val 11765"/>
            </a:avLst>
          </a:prstGeom>
          <a:solidFill>
            <a:srgbClr val="1B2A41"/>
          </a:solidFill>
          <a:ln/>
        </p:spPr>
      </p:sp>
      <p:sp>
        <p:nvSpPr>
          <p:cNvPr id="42" name="Text 40"/>
          <p:cNvSpPr/>
          <p:nvPr/>
        </p:nvSpPr>
        <p:spPr>
          <a:xfrm>
            <a:off x="722376" y="5989320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答案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417320" y="5989320"/>
            <a:ext cx="9994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ξ = 3.177%、ω = 14.968 rad/s、k = 18,269 kN/m、c = 77.52 kN·s/m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SOLUTION FLOW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SOP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解題四步：從題目文字到答案的決策路徑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 2 步（抓 m 與 k）與第 3 步（選對公式）決定 90% 的分數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SD-U1-1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結構動力題目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90749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2918765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幾個獨立位移？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78578" y="1481328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CE6F0"/>
          </a:solidFill>
          <a:ln/>
        </p:spPr>
      </p:sp>
      <p:sp>
        <p:nvSpPr>
          <p:cNvPr id="13" name="Text 11"/>
          <p:cNvSpPr/>
          <p:nvPr/>
        </p:nvSpPr>
        <p:spPr>
          <a:xfrm>
            <a:off x="5188306" y="1481328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SDOF：一個 m、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一個等效 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78578" y="1933956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FF0E4"/>
          </a:solidFill>
          <a:ln/>
        </p:spPr>
      </p:sp>
      <p:sp>
        <p:nvSpPr>
          <p:cNvPr id="15" name="Text 13"/>
          <p:cNvSpPr/>
          <p:nvPr/>
        </p:nvSpPr>
        <p:spPr>
          <a:xfrm>
            <a:off x="5188306" y="1933956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MDOF：組 [M]、[K]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或用 Rayleigh 商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66406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7" name="Text 15"/>
          <p:cNvSpPr/>
          <p:nvPr/>
        </p:nvSpPr>
        <p:spPr>
          <a:xfrm>
            <a:off x="7494422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 = W/g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（別用 W）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54235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9782251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柱端能轉動嗎？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54235" y="2779776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CE6F0"/>
          </a:solidFill>
          <a:ln/>
        </p:spPr>
      </p:sp>
      <p:sp>
        <p:nvSpPr>
          <p:cNvPr id="21" name="Text 19"/>
          <p:cNvSpPr/>
          <p:nvPr/>
        </p:nvSpPr>
        <p:spPr>
          <a:xfrm>
            <a:off x="9763963" y="2779776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不能轉 → 12EI/h³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654235" y="3232404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FBE1DE"/>
          </a:solidFill>
          <a:ln/>
        </p:spPr>
      </p:sp>
      <p:sp>
        <p:nvSpPr>
          <p:cNvPr id="23" name="Text 21"/>
          <p:cNvSpPr/>
          <p:nvPr/>
        </p:nvSpPr>
        <p:spPr>
          <a:xfrm>
            <a:off x="9763963" y="3232404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能轉 → 3EI/h³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66406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5" name="Text 23"/>
          <p:cNvSpPr/>
          <p:nvPr/>
        </p:nvSpPr>
        <p:spPr>
          <a:xfrm>
            <a:off x="7494422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同層並聯 Σk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疊層串聯 Σ1/k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78578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7" name="Text 25"/>
          <p:cNvSpPr/>
          <p:nvPr/>
        </p:nvSpPr>
        <p:spPr>
          <a:xfrm>
            <a:off x="5206594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ω = √(k/m)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 = 2π/ω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90749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29" name="Text 27"/>
          <p:cNvSpPr/>
          <p:nvPr/>
        </p:nvSpPr>
        <p:spPr>
          <a:xfrm>
            <a:off x="2918765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有外力嗎？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" y="2779776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F4F6F9"/>
          </a:solidFill>
          <a:ln/>
        </p:spPr>
      </p:sp>
      <p:sp>
        <p:nvSpPr>
          <p:cNvPr id="31" name="Text 29"/>
          <p:cNvSpPr/>
          <p:nvPr/>
        </p:nvSpPr>
        <p:spPr>
          <a:xfrm>
            <a:off x="612648" y="2779776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 → 自由振動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δ、ξ、包絡線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2920" y="3232404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FBE1DE"/>
          </a:solidFill>
          <a:ln/>
        </p:spPr>
      </p:sp>
      <p:sp>
        <p:nvSpPr>
          <p:cNvPr id="33" name="Text 31"/>
          <p:cNvSpPr/>
          <p:nvPr/>
        </p:nvSpPr>
        <p:spPr>
          <a:xfrm>
            <a:off x="612648" y="3232404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 → 先算 r = Ω/ω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外力 DMF／地動 TR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534717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822546" y="1901952"/>
            <a:ext cx="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822546" y="1901952"/>
            <a:ext cx="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110374" y="1675638"/>
            <a:ext cx="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110374" y="2128266"/>
            <a:ext cx="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398203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10670134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9654235" y="2974086"/>
            <a:ext cx="-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9654235" y="3426714"/>
            <a:ext cx="-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7366406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5078578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2790749" y="3200400"/>
            <a:ext cx="-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2790749" y="3200400"/>
            <a:ext cx="-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1518818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502920" y="4032504"/>
            <a:ext cx="2031797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49" name="Text 47"/>
          <p:cNvSpPr/>
          <p:nvPr/>
        </p:nvSpPr>
        <p:spPr>
          <a:xfrm>
            <a:off x="630936" y="4032504"/>
            <a:ext cx="177576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Sa(T, ξ) → F = m·Sa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2809037" y="4032504"/>
            <a:ext cx="8876995" cy="749808"/>
          </a:xfrm>
          <a:prstGeom prst="roundRect">
            <a:avLst>
              <a:gd name="adj" fmla="val 9756"/>
            </a:avLst>
          </a:prstGeom>
          <a:solidFill>
            <a:srgbClr val="DCE6F0"/>
          </a:solidFill>
          <a:ln w="15875">
            <a:solidFill>
              <a:srgbClr val="4C6B8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91917" y="4032504"/>
            <a:ext cx="85112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量級 self-check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 ≈ 0.05~0.1N 秒（N = 樓層數）；ξ：RC 5%、鋼 2%、隔震 10~20%；r→∞ 時 DMF→0、TR→0。三個數字有一個離譜就回頭找單位錯誤。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53" name="Text 51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三個一定要檢查的地方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5" name="Text 53"/>
          <p:cNvSpPr/>
          <p:nvPr/>
        </p:nvSpPr>
        <p:spPr>
          <a:xfrm>
            <a:off x="950976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單位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 是力、m 是質量，m = W/9.81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30682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7" name="Text 55"/>
          <p:cNvSpPr/>
          <p:nvPr/>
        </p:nvSpPr>
        <p:spPr>
          <a:xfrm>
            <a:off x="4526280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邊界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柱端能不能轉 → 12 或 3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788212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9" name="Text 57"/>
          <p:cNvSpPr/>
          <p:nvPr/>
        </p:nvSpPr>
        <p:spPr>
          <a:xfrm>
            <a:off x="8101584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 的方向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 = Ω/ω，外界 ÷ 結構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 d6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強迫振動：頻率比 r 決定你落在哪一區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d6 動力放大因子與頻率比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 ≪ 1 準靜態區：結構跟得上外力，u ≈ p₀/k，DMF → 1，加阻尼沒有用。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 ≈ 1 共振區：DMF = 1/(2ξ)。ξ = 2% 的鋼結構放大 25 倍，ξ = 5% 的 RC 放大 10 倍。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 ≫ 1 慣性控制區：質量來不及動，DMF → 0。這是隔震的工作區。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離開共振區後所有 ξ 的曲線幾乎重疊 —— 阻尼只在共振附近有效，真正共振時該改 k 或 m。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F5 強迫振動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動力放大因子 DMF：外力直接打在結構上時用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頻率比與靜位移</a:t>
            </a:r>
            <a:endParaRPr lang="en-US" sz="1300" dirty="0"/>
          </a:p>
        </p:txBody>
      </p:sp>
      <p:pic>
        <p:nvPicPr>
          <p:cNvPr id="7" name="Image 0" descr="formula_imgs/f5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6396" y="1847088"/>
            <a:ext cx="3111929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動力放大因子</a:t>
            </a:r>
            <a:endParaRPr lang="en-US" sz="1300" dirty="0"/>
          </a:p>
        </p:txBody>
      </p:sp>
      <p:pic>
        <p:nvPicPr>
          <p:cNvPr id="11" name="Image 1" descr="formula_imgs/f5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7472" y="2962656"/>
            <a:ext cx="3129776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共振時</a:t>
            </a:r>
            <a:endParaRPr lang="en-US" sz="1300" dirty="0"/>
          </a:p>
        </p:txBody>
      </p:sp>
      <p:pic>
        <p:nvPicPr>
          <p:cNvPr id="15" name="Image 2" descr="formula_imgs/f5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232" y="4078224"/>
            <a:ext cx="3878255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真正的峰值位置</a:t>
            </a:r>
            <a:endParaRPr lang="en-US" sz="1300" dirty="0"/>
          </a:p>
        </p:txBody>
      </p:sp>
      <p:pic>
        <p:nvPicPr>
          <p:cNvPr id="19" name="Image 3" descr="formula_imgs/f5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5187" y="5193792"/>
            <a:ext cx="3694347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 永遠是「外界激振節奏 ÷ 結構自然節奏」。檢查法：Ω → ∞ 時 DMF 應 → 0，若結果相反就是 r 寫反了。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 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微型例題③　機器不平衡力：算 DMF 並提出對策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0" y="566928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SD-U1-1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183112" cy="603504"/>
          </a:xfrm>
          <a:prstGeom prst="roundRect">
            <a:avLst>
              <a:gd name="adj" fmla="val 10606"/>
            </a:avLst>
          </a:prstGeom>
          <a:solidFill>
            <a:srgbClr val="DCE6F0"/>
          </a:solidFill>
          <a:ln/>
        </p:spPr>
      </p:sp>
      <p:sp>
        <p:nvSpPr>
          <p:cNvPr id="6" name="Text 4"/>
          <p:cNvSpPr/>
          <p:nvPr/>
        </p:nvSpPr>
        <p:spPr>
          <a:xfrm>
            <a:off x="630936" y="1271016"/>
            <a:ext cx="19805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機器＋基座重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30936" y="1472184"/>
            <a:ext cx="19805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 = 500 kN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39542" y="131673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67558" y="1271016"/>
            <a:ext cx="19805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基座勁度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67558" y="1472184"/>
            <a:ext cx="19805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 = 35,000 kN/m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976165" y="131673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04181" y="1271016"/>
            <a:ext cx="19805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轉速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04181" y="1472184"/>
            <a:ext cx="19805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225 rpm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212787" y="131673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40803" y="1271016"/>
            <a:ext cx="19805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不平衡力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40803" y="1472184"/>
            <a:ext cx="19805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p₀ = 20 kN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449410" y="131673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77426" y="1271016"/>
            <a:ext cx="19805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阻尼比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577426" y="1472184"/>
            <a:ext cx="19805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ξ = 0.05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2011680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2011680"/>
            <a:ext cx="552297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Shape 20"/>
          <p:cNvSpPr/>
          <p:nvPr/>
        </p:nvSpPr>
        <p:spPr>
          <a:xfrm>
            <a:off x="704088" y="2212848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" y="2212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24712" y="219456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算結構自然節奏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58952" y="2615184"/>
            <a:ext cx="501091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 = W/g = 50.968 t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ω = √(k/m) = 26.2050 rad/s → T = 0.23977 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54496" y="2011680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54496" y="2011680"/>
            <a:ext cx="552297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6455664" y="2212848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9" name="Text 27"/>
          <p:cNvSpPr/>
          <p:nvPr/>
        </p:nvSpPr>
        <p:spPr>
          <a:xfrm>
            <a:off x="6455664" y="2212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76288" y="219456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算外界激振節奏與頻率比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510528" y="2615184"/>
            <a:ext cx="501091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Ω = 225 × 2π/60 = 23.5619 rad/s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 = Ω/ω = 0.89914 —— 非常接近 1，落在共振區邊緣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02920" y="4032504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4032504"/>
            <a:ext cx="552297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Shape 32"/>
          <p:cNvSpPr/>
          <p:nvPr/>
        </p:nvSpPr>
        <p:spPr>
          <a:xfrm>
            <a:off x="704088" y="4233672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5" name="Text 33"/>
          <p:cNvSpPr/>
          <p:nvPr/>
        </p:nvSpPr>
        <p:spPr>
          <a:xfrm>
            <a:off x="704088" y="4233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24712" y="4215384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套 DMF 求動力位移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758952" y="4636008"/>
            <a:ext cx="501091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DMF = 1/√((1−r²)² + (2ξr)²) = 4.7259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u_st = p₀/k = 0.5714 mm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u_max = u_st × DMF = 2.7005 mm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54496" y="4032504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54496" y="4032504"/>
            <a:ext cx="552297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0" name="Shape 38"/>
          <p:cNvSpPr/>
          <p:nvPr/>
        </p:nvSpPr>
        <p:spPr>
          <a:xfrm>
            <a:off x="6455664" y="4233672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1" name="Text 39"/>
          <p:cNvSpPr/>
          <p:nvPr/>
        </p:nvSpPr>
        <p:spPr>
          <a:xfrm>
            <a:off x="6455664" y="4233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876288" y="4215384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風險評估與對策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6510528" y="4636008"/>
            <a:ext cx="501091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若轉速升到共振：DMF = 1/(2ξ) = 10 → u = 5.714 mm（再翻一倍）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對策：基座勁度提高 50% → r = 0.7341、DMF = 2.142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 由 2.701 mm 降到 0.816 mm —— 移開 r 比硬加阻尼有效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02920" y="5989320"/>
            <a:ext cx="11183112" cy="621792"/>
          </a:xfrm>
          <a:prstGeom prst="roundRect">
            <a:avLst>
              <a:gd name="adj" fmla="val 11765"/>
            </a:avLst>
          </a:prstGeom>
          <a:solidFill>
            <a:srgbClr val="1B2A41"/>
          </a:solidFill>
          <a:ln/>
        </p:spPr>
      </p:sp>
      <p:sp>
        <p:nvSpPr>
          <p:cNvPr id="45" name="Text 43"/>
          <p:cNvSpPr/>
          <p:nvPr/>
        </p:nvSpPr>
        <p:spPr>
          <a:xfrm>
            <a:off x="722376" y="5989320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答案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1417320" y="5989320"/>
            <a:ext cx="9994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 = 0.8991 → DMF = 4.726，u_max = 2.701 mm；加勁 50% 後降為 0.816 mm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 d7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共振為什麼危險？因為「只剩阻尼在擋」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d7 相位角與遲滯環耗能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相位角 φ 在 r = 1 時恆為 90°，與 ξ 完全無關 —— 這是判斷共振點最乾淨的指標。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 = 90° 意味慣性力與彈簧力剛好互相抵消，外力無人分擔，只能由阻尼力 cΩu 獨自抗衡。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 p₀ = cωu_max → u_max = (p₀/k)·1/(2ξ)，DMF = 1/(2ξ) 就是這樣來的。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遲滯環面積 W_D = πcΩu₀² 就是一圈耗掉的能量；共振時環最肥，也代表能量輸入最大。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F6 相位與耗能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相位角、每圈耗能，與三個區的物理分工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穩態反應（含相位落後）</a:t>
            </a:r>
            <a:endParaRPr lang="en-US" sz="1300" dirty="0"/>
          </a:p>
        </p:txBody>
      </p:sp>
      <p:pic>
        <p:nvPicPr>
          <p:cNvPr id="7" name="Image 0" descr="formula_imgs/f6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2557" y="1847088"/>
            <a:ext cx="4979605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相位角</a:t>
            </a:r>
            <a:endParaRPr lang="en-US" sz="1300" dirty="0"/>
          </a:p>
        </p:txBody>
      </p:sp>
      <p:pic>
        <p:nvPicPr>
          <p:cNvPr id="11" name="Image 1" descr="formula_imgs/f6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3434" y="2962656"/>
            <a:ext cx="4197851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每圈黏滯阻尼耗能</a:t>
            </a:r>
            <a:endParaRPr lang="en-US" sz="1300" dirty="0"/>
          </a:p>
        </p:txBody>
      </p:sp>
      <p:pic>
        <p:nvPicPr>
          <p:cNvPr id="15" name="Image 2" descr="formula_imgs/f6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4078224"/>
            <a:ext cx="2231136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誰在抵抗外力</a:t>
            </a:r>
            <a:endParaRPr lang="en-US" sz="1300" dirty="0"/>
          </a:p>
        </p:txBody>
      </p:sp>
      <p:pic>
        <p:nvPicPr>
          <p:cNvPr id="19" name="Image 3" descr="formula_imgs/f6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7438" y="5193792"/>
            <a:ext cx="6549843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W_D 與振幅平方成正比、與激振頻率一次方成正比 —— 阻尼器在高頻、大振幅時才有明顯貢獻。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 d8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地動輸入用 TR：黃金分界是 r = √2，不是 r = 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d8 加速度傳遞率與隔震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支承在動（地震、車行）時，分子多了 1 + (2ξr)²，所以用 TR 而不是 DMF。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所有 ξ 的 TR 曲線都通過 (√2, 1) —— r &lt; √2 一律放大，r &gt; √2 才開始減震。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例題④：隔震後 r = 3.45，TR = 0.132；同一棟不隔震 r = 0.83，TR = 3.17（放大 3 倍）。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隔震區裡加大阻尼反而抬高 TR，但能壓住隔震層位移 —— 實務取 ξ ≈ 0.10~0.20 折衷。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F7 傳遞率與隔震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加速度傳遞率 TR：地動輸入專用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加速度傳遞率</a:t>
            </a:r>
            <a:endParaRPr lang="en-US" sz="1300" dirty="0"/>
          </a:p>
        </p:txBody>
      </p:sp>
      <p:pic>
        <p:nvPicPr>
          <p:cNvPr id="7" name="Image 0" descr="formula_imgs/f7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6358" y="1847088"/>
            <a:ext cx="2472004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 ξ 無關的共同交點</a:t>
            </a:r>
            <a:endParaRPr lang="en-US" sz="1300" dirty="0"/>
          </a:p>
        </p:txBody>
      </p:sp>
      <p:pic>
        <p:nvPicPr>
          <p:cNvPr id="11" name="Image 1" descr="formula_imgs/f7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8905" y="2962656"/>
            <a:ext cx="3826909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隔震有效條件</a:t>
            </a:r>
            <a:endParaRPr lang="en-US" sz="1300" dirty="0"/>
          </a:p>
        </p:txBody>
      </p:sp>
      <p:pic>
        <p:nvPicPr>
          <p:cNvPr id="15" name="Image 2" descr="formula_imgs/f7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8478" y="4078224"/>
            <a:ext cx="4467765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位移需求（別忘了檢核）</a:t>
            </a:r>
            <a:endParaRPr lang="en-US" sz="1300" dirty="0"/>
          </a:p>
        </p:txBody>
      </p:sp>
      <p:pic>
        <p:nvPicPr>
          <p:cNvPr id="19" name="Image 3" descr="formula_imgs/f7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9985" y="5193792"/>
            <a:ext cx="1504749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隔震三要件缺一不可：週期拉長到固定基礎的 3 倍以上、落在 r &gt; √2、支承有足夠位移容量。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 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微型例題④　基礎隔震：串聯勁度 → 週期拉長 → 傳遞率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0" y="566928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SD-U1-1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183112" cy="603504"/>
          </a:xfrm>
          <a:prstGeom prst="roundRect">
            <a:avLst>
              <a:gd name="adj" fmla="val 10606"/>
            </a:avLst>
          </a:prstGeom>
          <a:solidFill>
            <a:srgbClr val="DCE6F0"/>
          </a:solidFill>
          <a:ln/>
        </p:spPr>
      </p:sp>
      <p:sp>
        <p:nvSpPr>
          <p:cNvPr id="6" name="Text 4"/>
          <p:cNvSpPr/>
          <p:nvPr/>
        </p:nvSpPr>
        <p:spPr>
          <a:xfrm>
            <a:off x="630936" y="1271016"/>
            <a:ext cx="19805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上部結構總重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30936" y="1472184"/>
            <a:ext cx="19805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 = 40,000 kN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39542" y="131673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67558" y="1271016"/>
            <a:ext cx="19805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固定基礎週期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67558" y="1472184"/>
            <a:ext cx="19805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T_f = 0.5 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976165" y="131673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04181" y="1271016"/>
            <a:ext cx="19805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隔震層勁度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04181" y="1472184"/>
            <a:ext cx="19805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k_b = 40,000 kN/m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212787" y="131673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40803" y="1271016"/>
            <a:ext cx="19805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地動主要週期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40803" y="1472184"/>
            <a:ext cx="19805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T_g = 0.6 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449410" y="131673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77426" y="1271016"/>
            <a:ext cx="19805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支承阻尼比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577426" y="1472184"/>
            <a:ext cx="19805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ξ = 0.15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2011680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2011680"/>
            <a:ext cx="552297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Shape 20"/>
          <p:cNvSpPr/>
          <p:nvPr/>
        </p:nvSpPr>
        <p:spPr>
          <a:xfrm>
            <a:off x="704088" y="2212848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" y="2212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24712" y="219456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先反推上部結構等效勁度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58952" y="2615184"/>
            <a:ext cx="501091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 = W/g = 4077.47 t，ω_f = 2π/T_f = 12.5664 rad/s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k_f = m·ω_f² = 643,889 kN/m —— 比隔震層硬 16 倍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54496" y="2011680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54496" y="2011680"/>
            <a:ext cx="552297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6455664" y="2212848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9" name="Text 27"/>
          <p:cNvSpPr/>
          <p:nvPr/>
        </p:nvSpPr>
        <p:spPr>
          <a:xfrm>
            <a:off x="6455664" y="2212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76288" y="219456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串聯求等效勁度與新週期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510528" y="2615184"/>
            <a:ext cx="501091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1/k_eq = 1/k_f + 1/k_b → k_eq = 37,660 kN/m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k_eq 只比 k_b 小 5.8% —— 最軟的那個說了算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 = 2π√(m/k_eq) = 2.0674 s（×4.13，滿足 ≥ 3 倍）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02920" y="4032504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4032504"/>
            <a:ext cx="552297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Shape 32"/>
          <p:cNvSpPr/>
          <p:nvPr/>
        </p:nvSpPr>
        <p:spPr>
          <a:xfrm>
            <a:off x="704088" y="4233672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5" name="Text 33"/>
          <p:cNvSpPr/>
          <p:nvPr/>
        </p:nvSpPr>
        <p:spPr>
          <a:xfrm>
            <a:off x="704088" y="4233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24712" y="4215384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算頻率比並判斷是否進入隔震區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758952" y="4636008"/>
            <a:ext cx="501091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Ω = 2π/T_g = 10.4720 rad/s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 = Ω/ω = 3.4457 &gt; √2 = 1.414 ✔ 落在隔震有效區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未隔震時 r = 0.8333 &lt; √2，反而被放大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54496" y="4032504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54496" y="4032504"/>
            <a:ext cx="552297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0" name="Shape 38"/>
          <p:cNvSpPr/>
          <p:nvPr/>
        </p:nvSpPr>
        <p:spPr>
          <a:xfrm>
            <a:off x="6455664" y="4233672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1" name="Text 39"/>
          <p:cNvSpPr/>
          <p:nvPr/>
        </p:nvSpPr>
        <p:spPr>
          <a:xfrm>
            <a:off x="6455664" y="4233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876288" y="4215384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算傳遞率並檢核位移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6510528" y="4636008"/>
            <a:ext cx="501091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 = 0.1317 → 上部加速度只剩地表的 13.2%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未隔震 TR = 3.168（放大 3.2 倍），前後差 24 倍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位移需求 u = Sa/ω² ≈ 159 mm，支承必須走得完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02920" y="5989320"/>
            <a:ext cx="11183112" cy="621792"/>
          </a:xfrm>
          <a:prstGeom prst="roundRect">
            <a:avLst>
              <a:gd name="adj" fmla="val 11765"/>
            </a:avLst>
          </a:prstGeom>
          <a:solidFill>
            <a:srgbClr val="1B2A41"/>
          </a:solidFill>
          <a:ln/>
        </p:spPr>
      </p:sp>
      <p:sp>
        <p:nvSpPr>
          <p:cNvPr id="45" name="Text 43"/>
          <p:cNvSpPr/>
          <p:nvPr/>
        </p:nvSpPr>
        <p:spPr>
          <a:xfrm>
            <a:off x="722376" y="5989320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答案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1417320" y="5989320"/>
            <a:ext cx="9994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 由 0.5 s 拉長到 2.067 s → r = 3.446 &gt; √2 → TR = 0.1317（未隔震為 3.17）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 d9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多自由度：N 個自由度就有 N 組（T, 振態）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d9 多自由度振態與Rayleigh上界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特徵值問題 ([K] − ω²[M]){φ} = {0} 解出 N 組頻率與振態；第 n 振態有 n−1 個節點。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本例三層屋架：T₁ = 0.7465 s 吃掉 86.4% 的質量，前兩個振態合計 97.6%。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Rayleigh 商用直線形 ψ = (1,2,3) 估出 T₁ = 0.74344 s，只差 0.41%。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上界定理保證：估出的 ω 必定偏高、T 必定偏低 → 地震力偏大，是偏保守的方向。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F8 多自由度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特徵值問題、正交性，與考場救命的 Rayleigh 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特徵值方程</a:t>
            </a:r>
            <a:endParaRPr lang="en-US" sz="1300" dirty="0"/>
          </a:p>
        </p:txBody>
      </p:sp>
      <p:pic>
        <p:nvPicPr>
          <p:cNvPr id="7" name="Image 0" descr="formula_imgs/f8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7628" y="1847088"/>
            <a:ext cx="3629465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特徵方程（求 ω）</a:t>
            </a:r>
            <a:endParaRPr lang="en-US" sz="1300" dirty="0"/>
          </a:p>
        </p:txBody>
      </p:sp>
      <p:pic>
        <p:nvPicPr>
          <p:cNvPr id="11" name="Image 1" descr="formula_imgs/f8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3090" y="2962656"/>
            <a:ext cx="6358541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振態正交性</a:t>
            </a:r>
            <a:endParaRPr lang="en-US" sz="1300" dirty="0"/>
          </a:p>
        </p:txBody>
      </p:sp>
      <p:pic>
        <p:nvPicPr>
          <p:cNvPr id="15" name="Image 2" descr="formula_imgs/f8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030" y="4078224"/>
            <a:ext cx="6548660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Rayleigh 商與上界定理</a:t>
            </a:r>
            <a:endParaRPr lang="en-US" sz="1300" dirty="0"/>
          </a:p>
        </p:txBody>
      </p:sp>
      <p:pic>
        <p:nvPicPr>
          <p:cNvPr id="19" name="Image 3" descr="formula_imgs/f8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495" y="5193792"/>
            <a:ext cx="3383730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3×3 以上手算特徵值幾乎不可能 —— 改用 Rayleigh 商，假設合理的變形形狀 ψ，一分鐘得到誤差 1% 內的 T₁。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 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微型例題⑤　三層剪力屋架：Rayleigh 商估 T₁ 並驗證上界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0" y="566928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沿用 SD-U1-2／U1-3 的基準結構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183112" cy="603504"/>
          </a:xfrm>
          <a:prstGeom prst="roundRect">
            <a:avLst>
              <a:gd name="adj" fmla="val 10606"/>
            </a:avLst>
          </a:prstGeom>
          <a:solidFill>
            <a:srgbClr val="DCE6F0"/>
          </a:solidFill>
          <a:ln/>
        </p:spPr>
      </p:sp>
      <p:sp>
        <p:nvSpPr>
          <p:cNvPr id="6" name="Text 4"/>
          <p:cNvSpPr/>
          <p:nvPr/>
        </p:nvSpPr>
        <p:spPr>
          <a:xfrm>
            <a:off x="630936" y="1271016"/>
            <a:ext cx="25397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各層質量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30936" y="1472184"/>
            <a:ext cx="25397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 = 10 t／層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98698" y="131673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6714" y="1271016"/>
            <a:ext cx="25397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各層勁度（下→上）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26714" y="1472184"/>
            <a:ext cx="25397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4000 / 4000 / 2000 kN/m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94476" y="131673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22492" y="1271016"/>
            <a:ext cx="25397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自由度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22492" y="1472184"/>
            <a:ext cx="25397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3（各樓層側向位移）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890254" y="131673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18270" y="1271016"/>
            <a:ext cx="25397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求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018270" y="1472184"/>
            <a:ext cx="25397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基本週期 T₁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2011680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011680"/>
            <a:ext cx="552297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9" name="Shape 17"/>
          <p:cNvSpPr/>
          <p:nvPr/>
        </p:nvSpPr>
        <p:spPr>
          <a:xfrm>
            <a:off x="704088" y="2212848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2212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24712" y="219456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組勁度矩陣（三對角）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58952" y="2615184"/>
            <a:ext cx="501091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K₁₁ = k₁+k₂ = 8000、K₁₂ = −k₂ = −4000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K₂₂ = k₂+k₃ = 6000、K₂₃ = −k₃ = −2000、K₃₃ = k₃ = 2000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[M] = diag(10, 10, 10)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54496" y="2011680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54496" y="2011680"/>
            <a:ext cx="552297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55664" y="2212848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6" name="Text 24"/>
          <p:cNvSpPr/>
          <p:nvPr/>
        </p:nvSpPr>
        <p:spPr>
          <a:xfrm>
            <a:off x="6455664" y="2212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76288" y="219456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選試驗形函數 ψ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510528" y="2615184"/>
            <a:ext cx="501091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第一振態的形狀必定「由下而上單調增加、無節點」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最簡單的合理假設：直線形 ψ = (1, 2, 3)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（若時間允許，也可用靜力撓曲線 ψ = (1, 1.667, 2.333)）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" y="4032504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4032504"/>
            <a:ext cx="552297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1" name="Shape 29"/>
          <p:cNvSpPr/>
          <p:nvPr/>
        </p:nvSpPr>
        <p:spPr>
          <a:xfrm>
            <a:off x="704088" y="4233672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" y="4233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24712" y="4215384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 Rayleigh 商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58952" y="4636008"/>
            <a:ext cx="501091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ψᵀ[K]ψ = 10,000　ψᵀ[M]ψ = 140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ω² = 71.429 → ω = 8.45154 rad/s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T₁ = 2π/ω = 0.74344 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54496" y="4032504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54496" y="4032504"/>
            <a:ext cx="552297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7" name="Shape 35"/>
          <p:cNvSpPr/>
          <p:nvPr/>
        </p:nvSpPr>
        <p:spPr>
          <a:xfrm>
            <a:off x="6455664" y="4233672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8" name="Text 36"/>
          <p:cNvSpPr/>
          <p:nvPr/>
        </p:nvSpPr>
        <p:spPr>
          <a:xfrm>
            <a:off x="6455664" y="4233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76288" y="4215384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與精解比對並驗證上界性質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510528" y="4636008"/>
            <a:ext cx="501091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精確解 ω₁ = 8.41723、T₁ = 0.74647 s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直線形誤差 ω +0.408%；靜力撓曲形 ω +1.011%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兩者都 ≥ 精確值 → 上界定理成立；ψ 愈接近真振態愈準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02920" y="5989320"/>
            <a:ext cx="11183112" cy="621792"/>
          </a:xfrm>
          <a:prstGeom prst="roundRect">
            <a:avLst>
              <a:gd name="adj" fmla="val 11765"/>
            </a:avLst>
          </a:prstGeom>
          <a:solidFill>
            <a:srgbClr val="1B2A41"/>
          </a:solidFill>
          <a:ln/>
        </p:spPr>
      </p:sp>
      <p:sp>
        <p:nvSpPr>
          <p:cNvPr id="42" name="Text 40"/>
          <p:cNvSpPr/>
          <p:nvPr/>
        </p:nvSpPr>
        <p:spPr>
          <a:xfrm>
            <a:off x="722376" y="5989320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答案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417320" y="5989320"/>
            <a:ext cx="9994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Rayleigh 商 T₁ = 0.74344 s，精解 0.74647 s —— 誤差 0.41%，且必定偏保守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 d10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兩個數字的出口：拿 (T, ξ) 去查反應譜換回一個 Sa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d10 反應譜與地震力的出口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反應譜天生只吃兩個輸入：週期 T 與阻尼比 ξ —— 前面所有計算都是為了得到這兩個數。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上升段（極短週期）加勁反而讓 Sa 上升；平台段 Sa 與 T 無關；下降段 Sa ∝ 1/T，週期加倍地震力減半。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隔震把 T 從 0.5 s 拉到 2.07 s，Sa 由平台的 0.80g 掉到 0.242g。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阻尼由 5% 提到 15%，整條譜再乘上 η = 0.707；但同時位移需求 u = Sa/ω² 會上升。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 d11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全景圖：兩個數字、四個步驟、五題數值、四道防呆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d11 全景圖與四道防呆檢查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1 定位模型 → Step 2 精準算 m 與 k → Step 3 選對公式 → Step 4 量級 self-check。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五題例題涵蓋了本單元全部題型：建模、量測阻尼、強迫振動、隔震、多自由度。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四道防呆：單位（W vs m）、邊界（12 vs 3）、n 的定義（間隔 vs 峰）、r 的方向（Ω/ω）。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考前三分鐘只看這一張，就能把整個單元的判斷順序完整復習一次。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· 考前速查 (1/2)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基本量 ‧ 勁度 ‧ 自由振動 ‧ 對數衰減率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自然圓頻率</a:t>
            </a:r>
            <a:endParaRPr lang="en-US" sz="1050" dirty="0"/>
          </a:p>
        </p:txBody>
      </p:sp>
      <p:pic>
        <p:nvPicPr>
          <p:cNvPr id="7" name="Image 0" descr="formula_imgs/s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996" y="1938528"/>
            <a:ext cx="1969885" cy="65151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21558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3321558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3431286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週期</a:t>
            </a:r>
            <a:endParaRPr lang="en-US" sz="1050" dirty="0"/>
          </a:p>
        </p:txBody>
      </p:sp>
      <p:pic>
        <p:nvPicPr>
          <p:cNvPr id="11" name="Image 1" descr="formula_imgs/s1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8702" y="1938528"/>
            <a:ext cx="2347191" cy="65151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85916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6185916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6295644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頻率</a:t>
            </a:r>
            <a:endParaRPr lang="en-US" sz="1050" dirty="0"/>
          </a:p>
        </p:txBody>
      </p:sp>
      <p:pic>
        <p:nvPicPr>
          <p:cNvPr id="15" name="Image 2" descr="formula_imgs/s1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2238" y="1938528"/>
            <a:ext cx="1708833" cy="65151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050274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9050274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9160002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質量</a:t>
            </a:r>
            <a:endParaRPr lang="en-US" sz="1050" dirty="0"/>
          </a:p>
        </p:txBody>
      </p:sp>
      <p:pic>
        <p:nvPicPr>
          <p:cNvPr id="19" name="Image 3" descr="formula_imgs/s1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7184" y="1938528"/>
            <a:ext cx="1987658" cy="65151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7200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57200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566928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阻尼比</a:t>
            </a:r>
            <a:endParaRPr lang="en-US" sz="1050" dirty="0"/>
          </a:p>
        </p:txBody>
      </p:sp>
      <p:pic>
        <p:nvPicPr>
          <p:cNvPr id="23" name="Image 4" descr="formula_imgs/s2_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242814"/>
            <a:ext cx="2462022" cy="626118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3321558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3321558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3431286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臨界阻尼</a:t>
            </a:r>
            <a:endParaRPr lang="en-US" sz="1050" dirty="0"/>
          </a:p>
        </p:txBody>
      </p:sp>
      <p:pic>
        <p:nvPicPr>
          <p:cNvPr id="27" name="Image 5" descr="formula_imgs/s2_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4022" y="3230118"/>
            <a:ext cx="2216550" cy="65151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6185916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6185916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6295644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兩端固接</a:t>
            </a:r>
            <a:endParaRPr lang="en-US" sz="1050" dirty="0"/>
          </a:p>
        </p:txBody>
      </p:sp>
      <p:pic>
        <p:nvPicPr>
          <p:cNvPr id="31" name="Image 6" descr="formula_imgs/s2_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5644" y="3232330"/>
            <a:ext cx="2462022" cy="647086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9050274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9050274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9160002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一端可轉</a:t>
            </a:r>
            <a:endParaRPr lang="en-US" sz="1050" dirty="0"/>
          </a:p>
        </p:txBody>
      </p:sp>
      <p:pic>
        <p:nvPicPr>
          <p:cNvPr id="35" name="Image 7" descr="formula_imgs/s2_4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59306" y="3230118"/>
            <a:ext cx="2263413" cy="651510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457200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457200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566928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並聯</a:t>
            </a:r>
            <a:endParaRPr lang="en-US" sz="1050" dirty="0"/>
          </a:p>
        </p:txBody>
      </p:sp>
      <p:pic>
        <p:nvPicPr>
          <p:cNvPr id="39" name="Image 8" descr="formula_imgs/s3_1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7433" y="4521708"/>
            <a:ext cx="1761012" cy="651510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3321558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1" name="Shape 30"/>
          <p:cNvSpPr/>
          <p:nvPr/>
        </p:nvSpPr>
        <p:spPr>
          <a:xfrm>
            <a:off x="3321558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2" name="Text 31"/>
          <p:cNvSpPr/>
          <p:nvPr/>
        </p:nvSpPr>
        <p:spPr>
          <a:xfrm>
            <a:off x="3431286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串聯</a:t>
            </a:r>
            <a:endParaRPr lang="en-US" sz="1050" dirty="0"/>
          </a:p>
        </p:txBody>
      </p:sp>
      <p:pic>
        <p:nvPicPr>
          <p:cNvPr id="43" name="Image 9" descr="formula_imgs/s3_2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31286" y="4523681"/>
            <a:ext cx="2462022" cy="647563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6185916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5" name="Shape 33"/>
          <p:cNvSpPr/>
          <p:nvPr/>
        </p:nvSpPr>
        <p:spPr>
          <a:xfrm>
            <a:off x="6185916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6" name="Text 34"/>
          <p:cNvSpPr/>
          <p:nvPr/>
        </p:nvSpPr>
        <p:spPr>
          <a:xfrm>
            <a:off x="6295644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阻尼頻率</a:t>
            </a:r>
            <a:endParaRPr lang="en-US" sz="1050" dirty="0"/>
          </a:p>
        </p:txBody>
      </p:sp>
      <p:pic>
        <p:nvPicPr>
          <p:cNvPr id="47" name="Image 10" descr="formula_imgs/s3_3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95644" y="4542460"/>
            <a:ext cx="2462022" cy="610005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9050274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9" name="Shape 36"/>
          <p:cNvSpPr/>
          <p:nvPr/>
        </p:nvSpPr>
        <p:spPr>
          <a:xfrm>
            <a:off x="9050274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0" name="Text 37"/>
          <p:cNvSpPr/>
          <p:nvPr/>
        </p:nvSpPr>
        <p:spPr>
          <a:xfrm>
            <a:off x="9160002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包絡線</a:t>
            </a:r>
            <a:endParaRPr lang="en-US" sz="1050" dirty="0"/>
          </a:p>
        </p:txBody>
      </p:sp>
      <p:pic>
        <p:nvPicPr>
          <p:cNvPr id="51" name="Image 11" descr="formula_imgs/s3_4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60002" y="4558853"/>
            <a:ext cx="2462022" cy="577220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457200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3" name="Shape 39"/>
          <p:cNvSpPr/>
          <p:nvPr/>
        </p:nvSpPr>
        <p:spPr>
          <a:xfrm>
            <a:off x="457200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4" name="Text 40"/>
          <p:cNvSpPr/>
          <p:nvPr/>
        </p:nvSpPr>
        <p:spPr>
          <a:xfrm>
            <a:off x="566928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對數衰減率</a:t>
            </a:r>
            <a:endParaRPr lang="en-US" sz="1050" dirty="0"/>
          </a:p>
        </p:txBody>
      </p:sp>
      <p:pic>
        <p:nvPicPr>
          <p:cNvPr id="55" name="Image 12" descr="formula_imgs/s4_1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4215" y="5813298"/>
            <a:ext cx="1947448" cy="651510"/>
          </a:xfrm>
          <a:prstGeom prst="rect">
            <a:avLst/>
          </a:prstGeom>
        </p:spPr>
      </p:pic>
      <p:sp>
        <p:nvSpPr>
          <p:cNvPr id="56" name="Shape 41"/>
          <p:cNvSpPr/>
          <p:nvPr/>
        </p:nvSpPr>
        <p:spPr>
          <a:xfrm>
            <a:off x="3321558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7" name="Shape 42"/>
          <p:cNvSpPr/>
          <p:nvPr/>
        </p:nvSpPr>
        <p:spPr>
          <a:xfrm>
            <a:off x="3321558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8" name="Text 43"/>
          <p:cNvSpPr/>
          <p:nvPr/>
        </p:nvSpPr>
        <p:spPr>
          <a:xfrm>
            <a:off x="3431286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小阻尼近似</a:t>
            </a:r>
            <a:endParaRPr lang="en-US" sz="1050" dirty="0"/>
          </a:p>
        </p:txBody>
      </p:sp>
      <p:pic>
        <p:nvPicPr>
          <p:cNvPr id="59" name="Image 13" descr="formula_imgs/s4_2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29971" y="5813298"/>
            <a:ext cx="1664651" cy="651510"/>
          </a:xfrm>
          <a:prstGeom prst="rect">
            <a:avLst/>
          </a:prstGeom>
        </p:spPr>
      </p:pic>
      <p:sp>
        <p:nvSpPr>
          <p:cNvPr id="60" name="Shape 44"/>
          <p:cNvSpPr/>
          <p:nvPr/>
        </p:nvSpPr>
        <p:spPr>
          <a:xfrm>
            <a:off x="6185916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61" name="Shape 45"/>
          <p:cNvSpPr/>
          <p:nvPr/>
        </p:nvSpPr>
        <p:spPr>
          <a:xfrm>
            <a:off x="6185916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2" name="Text 46"/>
          <p:cNvSpPr/>
          <p:nvPr/>
        </p:nvSpPr>
        <p:spPr>
          <a:xfrm>
            <a:off x="6295644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反推 ξ</a:t>
            </a:r>
            <a:endParaRPr lang="en-US" sz="1050" dirty="0"/>
          </a:p>
        </p:txBody>
      </p:sp>
      <p:pic>
        <p:nvPicPr>
          <p:cNvPr id="63" name="Image 14" descr="formula_imgs/s4_3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12885" y="5813298"/>
            <a:ext cx="1827541" cy="651510"/>
          </a:xfrm>
          <a:prstGeom prst="rect">
            <a:avLst/>
          </a:prstGeom>
        </p:spPr>
      </p:pic>
      <p:sp>
        <p:nvSpPr>
          <p:cNvPr id="64" name="Shape 47"/>
          <p:cNvSpPr/>
          <p:nvPr/>
        </p:nvSpPr>
        <p:spPr>
          <a:xfrm>
            <a:off x="9050274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65" name="Shape 48"/>
          <p:cNvSpPr/>
          <p:nvPr/>
        </p:nvSpPr>
        <p:spPr>
          <a:xfrm>
            <a:off x="9050274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6" name="Text 49"/>
          <p:cNvSpPr/>
          <p:nvPr/>
        </p:nvSpPr>
        <p:spPr>
          <a:xfrm>
            <a:off x="9160002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 圈後振幅比</a:t>
            </a:r>
            <a:endParaRPr lang="en-US" sz="1050" dirty="0"/>
          </a:p>
        </p:txBody>
      </p:sp>
      <p:pic>
        <p:nvPicPr>
          <p:cNvPr id="67" name="Image 15" descr="formula_imgs/s4_4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60002" y="5888146"/>
            <a:ext cx="2462022" cy="50181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· 考前速查 (2/2)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強迫振動 ‧ 相位與耗能 ‧ 傳遞率 ‧ 多自由度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頻率比</a:t>
            </a:r>
            <a:endParaRPr lang="en-US" sz="1050" dirty="0"/>
          </a:p>
        </p:txBody>
      </p:sp>
      <p:pic>
        <p:nvPicPr>
          <p:cNvPr id="7" name="Image 0" descr="formula_imgs/s5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198" y="1938528"/>
            <a:ext cx="1747482" cy="65151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21558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3321558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3431286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靜位移</a:t>
            </a:r>
            <a:endParaRPr lang="en-US" sz="1050" dirty="0"/>
          </a:p>
        </p:txBody>
      </p:sp>
      <p:pic>
        <p:nvPicPr>
          <p:cNvPr id="11" name="Image 1" descr="formula_imgs/s5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790" y="1938528"/>
            <a:ext cx="2145014" cy="65151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85916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6185916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6295644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動力放大因子</a:t>
            </a:r>
            <a:endParaRPr lang="en-US" sz="1050" dirty="0"/>
          </a:p>
        </p:txBody>
      </p:sp>
      <p:pic>
        <p:nvPicPr>
          <p:cNvPr id="15" name="Image 2" descr="formula_imgs/s5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644" y="1990643"/>
            <a:ext cx="2462022" cy="547281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050274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9050274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9160002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共振放大</a:t>
            </a:r>
            <a:endParaRPr lang="en-US" sz="1050" dirty="0"/>
          </a:p>
        </p:txBody>
      </p:sp>
      <p:pic>
        <p:nvPicPr>
          <p:cNvPr id="19" name="Image 3" descr="formula_imgs/s5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0724" y="1938528"/>
            <a:ext cx="2300578" cy="65151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7200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57200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566928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真正峰值位置</a:t>
            </a:r>
            <a:endParaRPr lang="en-US" sz="1050" dirty="0"/>
          </a:p>
        </p:txBody>
      </p:sp>
      <p:pic>
        <p:nvPicPr>
          <p:cNvPr id="23" name="Image 4" descr="formula_imgs/s6_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256740"/>
            <a:ext cx="2462022" cy="598266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3321558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3321558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3431286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相位角</a:t>
            </a:r>
            <a:endParaRPr lang="en-US" sz="1050" dirty="0"/>
          </a:p>
        </p:txBody>
      </p:sp>
      <p:pic>
        <p:nvPicPr>
          <p:cNvPr id="27" name="Image 5" descr="formula_imgs/s6_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0111" y="3230118"/>
            <a:ext cx="2164372" cy="65151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6185916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6185916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6295644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共振相位</a:t>
            </a:r>
            <a:endParaRPr lang="en-US" sz="1050" dirty="0"/>
          </a:p>
        </p:txBody>
      </p:sp>
      <p:pic>
        <p:nvPicPr>
          <p:cNvPr id="31" name="Image 6" descr="formula_imgs/s6_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5644" y="3237930"/>
            <a:ext cx="2462022" cy="635886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9050274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9050274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9160002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每圈耗能</a:t>
            </a:r>
            <a:endParaRPr lang="en-US" sz="1050" dirty="0"/>
          </a:p>
        </p:txBody>
      </p:sp>
      <p:pic>
        <p:nvPicPr>
          <p:cNvPr id="35" name="Image 7" descr="formula_imgs/s6_4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0002" y="3230242"/>
            <a:ext cx="2462022" cy="651261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457200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457200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566928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加速度傳遞率</a:t>
            </a:r>
            <a:endParaRPr lang="en-US" sz="1050" dirty="0"/>
          </a:p>
        </p:txBody>
      </p:sp>
      <p:pic>
        <p:nvPicPr>
          <p:cNvPr id="39" name="Image 8" descr="formula_imgs/s7_1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680" y="4521708"/>
            <a:ext cx="2328518" cy="651510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3321558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1" name="Shape 30"/>
          <p:cNvSpPr/>
          <p:nvPr/>
        </p:nvSpPr>
        <p:spPr>
          <a:xfrm>
            <a:off x="3321558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2" name="Text 31"/>
          <p:cNvSpPr/>
          <p:nvPr/>
        </p:nvSpPr>
        <p:spPr>
          <a:xfrm>
            <a:off x="3431286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共同交點</a:t>
            </a:r>
            <a:endParaRPr lang="en-US" sz="1050" dirty="0"/>
          </a:p>
        </p:txBody>
      </p:sp>
      <p:pic>
        <p:nvPicPr>
          <p:cNvPr id="43" name="Image 9" descr="formula_imgs/s7_2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31286" y="4552927"/>
            <a:ext cx="2462022" cy="589073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6185916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5" name="Shape 33"/>
          <p:cNvSpPr/>
          <p:nvPr/>
        </p:nvSpPr>
        <p:spPr>
          <a:xfrm>
            <a:off x="6185916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6" name="Text 34"/>
          <p:cNvSpPr/>
          <p:nvPr/>
        </p:nvSpPr>
        <p:spPr>
          <a:xfrm>
            <a:off x="6295644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隔震條件</a:t>
            </a:r>
            <a:endParaRPr lang="en-US" sz="1050" dirty="0"/>
          </a:p>
        </p:txBody>
      </p:sp>
      <p:pic>
        <p:nvPicPr>
          <p:cNvPr id="47" name="Image 10" descr="formula_imgs/s7_3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95644" y="4612849"/>
            <a:ext cx="2462022" cy="469228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9050274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9" name="Shape 36"/>
          <p:cNvSpPr/>
          <p:nvPr/>
        </p:nvSpPr>
        <p:spPr>
          <a:xfrm>
            <a:off x="9050274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0" name="Text 37"/>
          <p:cNvSpPr/>
          <p:nvPr/>
        </p:nvSpPr>
        <p:spPr>
          <a:xfrm>
            <a:off x="9160002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位移需求</a:t>
            </a:r>
            <a:endParaRPr lang="en-US" sz="1050" dirty="0"/>
          </a:p>
        </p:txBody>
      </p:sp>
      <p:pic>
        <p:nvPicPr>
          <p:cNvPr id="51" name="Image 11" descr="formula_imgs/s7_4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87791" y="4521708"/>
            <a:ext cx="2006443" cy="651510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457200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3" name="Shape 39"/>
          <p:cNvSpPr/>
          <p:nvPr/>
        </p:nvSpPr>
        <p:spPr>
          <a:xfrm>
            <a:off x="457200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4" name="Text 40"/>
          <p:cNvSpPr/>
          <p:nvPr/>
        </p:nvSpPr>
        <p:spPr>
          <a:xfrm>
            <a:off x="566928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特徵值方程</a:t>
            </a:r>
            <a:endParaRPr lang="en-US" sz="1050" dirty="0"/>
          </a:p>
        </p:txBody>
      </p:sp>
      <p:pic>
        <p:nvPicPr>
          <p:cNvPr id="55" name="Image 12" descr="formula_imgs/s8_1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6928" y="5951830"/>
            <a:ext cx="2462022" cy="374447"/>
          </a:xfrm>
          <a:prstGeom prst="rect">
            <a:avLst/>
          </a:prstGeom>
        </p:spPr>
      </p:pic>
      <p:sp>
        <p:nvSpPr>
          <p:cNvPr id="56" name="Shape 41"/>
          <p:cNvSpPr/>
          <p:nvPr/>
        </p:nvSpPr>
        <p:spPr>
          <a:xfrm>
            <a:off x="3321558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7" name="Shape 42"/>
          <p:cNvSpPr/>
          <p:nvPr/>
        </p:nvSpPr>
        <p:spPr>
          <a:xfrm>
            <a:off x="3321558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8" name="Text 43"/>
          <p:cNvSpPr/>
          <p:nvPr/>
        </p:nvSpPr>
        <p:spPr>
          <a:xfrm>
            <a:off x="3431286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特徵方程</a:t>
            </a:r>
            <a:endParaRPr lang="en-US" sz="1050" dirty="0"/>
          </a:p>
        </p:txBody>
      </p:sp>
      <p:pic>
        <p:nvPicPr>
          <p:cNvPr id="59" name="Image 13" descr="formula_imgs/s8_2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31286" y="5939709"/>
            <a:ext cx="2462022" cy="398689"/>
          </a:xfrm>
          <a:prstGeom prst="rect">
            <a:avLst/>
          </a:prstGeom>
        </p:spPr>
      </p:pic>
      <p:sp>
        <p:nvSpPr>
          <p:cNvPr id="60" name="Shape 44"/>
          <p:cNvSpPr/>
          <p:nvPr/>
        </p:nvSpPr>
        <p:spPr>
          <a:xfrm>
            <a:off x="6185916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61" name="Shape 45"/>
          <p:cNvSpPr/>
          <p:nvPr/>
        </p:nvSpPr>
        <p:spPr>
          <a:xfrm>
            <a:off x="6185916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2" name="Text 46"/>
          <p:cNvSpPr/>
          <p:nvPr/>
        </p:nvSpPr>
        <p:spPr>
          <a:xfrm>
            <a:off x="6295644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振態正交性</a:t>
            </a:r>
            <a:endParaRPr lang="en-US" sz="1050" dirty="0"/>
          </a:p>
        </p:txBody>
      </p:sp>
      <p:pic>
        <p:nvPicPr>
          <p:cNvPr id="63" name="Image 14" descr="formula_imgs/s8_3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95644" y="5885106"/>
            <a:ext cx="2462022" cy="507893"/>
          </a:xfrm>
          <a:prstGeom prst="rect">
            <a:avLst/>
          </a:prstGeom>
        </p:spPr>
      </p:pic>
      <p:sp>
        <p:nvSpPr>
          <p:cNvPr id="64" name="Shape 47"/>
          <p:cNvSpPr/>
          <p:nvPr/>
        </p:nvSpPr>
        <p:spPr>
          <a:xfrm>
            <a:off x="9050274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65" name="Shape 48"/>
          <p:cNvSpPr/>
          <p:nvPr/>
        </p:nvSpPr>
        <p:spPr>
          <a:xfrm>
            <a:off x="9050274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6" name="Text 49"/>
          <p:cNvSpPr/>
          <p:nvPr/>
        </p:nvSpPr>
        <p:spPr>
          <a:xfrm>
            <a:off x="9160002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Rayleigh 商</a:t>
            </a:r>
            <a:endParaRPr lang="en-US" sz="1050" dirty="0"/>
          </a:p>
        </p:txBody>
      </p:sp>
      <p:pic>
        <p:nvPicPr>
          <p:cNvPr id="67" name="Image 15" descr="formula_imgs/s8_4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57492" y="5813298"/>
            <a:ext cx="2267043" cy="65151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高頻陷阱六則 —— 每一則都直接扣掉整題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把重量 W 直接當成質量 m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SI 制必須 m = W/g。直接用 W 會讓 ω 暴增 √9.81 = 3.13 倍、T 低估成原本的 32%。例題①：正解 T = 0.1135 s，誤用 W 得到 0.3554 s。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1636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32804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6432804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71716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邊界條件看錯：12EI/h³ vs 3EI/h³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32804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只要柱端有一端能自由轉動（柱底鉸接、柱頂無梁束制、與梁鉸接），勁度就從 12EI/h³ 掉到 3EI/h³。勁度 ÷4 → 週期 ×2。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對數衰減率的 n 數成「峰數」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9808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「第 1 峰到第 5 峰」是 4 個間隔，不是 5。數成 5 → ξ 低估 20%（3.177% 變 2.542%）；整個漏掉除以 n → 高估 n 倍。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1636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32804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32804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71716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頻率比 r 寫反成 ω/Ω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32804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 一定是「外界激振節奏 ÷ 結構自然節奏」＝ Ω/ω。檢查法：讓外界抖極快（Ω→∞、r→∞），結構應該來不及反應、DMF→0。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地動題目誤用 DMF 而非 TR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9808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外力直接打在結構上 → DMF（分子只有 1）；支承在動（地震、車行）→ TR（分子多了 1+(2ξr)²）。兩者的分界也不同：DMF 的關鍵在 r=1，TR 的關鍵在 r=√2。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1636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32804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432804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71716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隔震只看加速度，忘了位移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432804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 k 做軟，加速度下降，但位移 u = Sa/ω² 必定上升。例題④ 隔震層位移需求約 159 mm；支承若走不完這段位移，隔震層會先破壞。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4C6B8A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考前總複習｜重點回顧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SD-U1-1 結構動力基本性質及原理｜重點回顧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479853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7985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整個單元只在算兩個數字：週期 T（能量搬運多快，由 m 與 k 決定）與阻尼比 ξ（能量漏掉多少，由 c 決定）。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149194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343046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34304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149194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抓 m 與 k 是分數所在：m = W/g，k 看柱端能不能轉（12EI/h³ 或 3EI/h³），同層並聯相加、疊層串聯取柔度。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012387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206240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012387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阻尼不改節奏只改包絡線：ω_D ≈ ω，衰減看 e^(−ξωt)；量測 ξ 的唯一入口是對數衰減率，n 數的是「間隔」。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875581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5069434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06943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4875581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強迫振動先算 r = Ω/ω：外力用 DMF（共振時 1/(2ξ)），地動用 TR（分界在 r = √2，隔震就是把 r 推過去）。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5738774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" y="5932627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93262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80160" y="5738774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最後拿 (T, ξ) 查反應譜換回 Sa，F = m·Sa —— 前面所有計算都只是為了在那張圖上找到一個點。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GIBSIN｜YJC</dc:creator>
  <cp:lastModifiedBy>GIBSIN｜YJC</cp:lastModifiedBy>
  <cp:revision>1</cp:revision>
  <dcterms:created xsi:type="dcterms:W3CDTF">2026-09-16T08:38:47Z</dcterms:created>
  <dcterms:modified xsi:type="dcterms:W3CDTF">2026-09-16T08:38:47Z</dcterms:modified>
</cp:coreProperties>
</file>
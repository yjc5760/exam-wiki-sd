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png"/><Relationship Id="rId13" Type="http://schemas.openxmlformats.org/officeDocument/2006/relationships/image" Target="../media/image-29-13.png"/><Relationship Id="rId14" Type="http://schemas.openxmlformats.org/officeDocument/2006/relationships/image" Target="../media/image-29-14.png"/><Relationship Id="rId15" Type="http://schemas.openxmlformats.org/officeDocument/2006/relationships/image" Target="../media/image-29-15.png"/><Relationship Id="rId16" Type="http://schemas.openxmlformats.org/officeDocument/2006/relationships/image" Target="../media/image-29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SD-U1-3　結構動力學｜觀念講義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單自由度、多自由度系統之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動態分析及應用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MDOF 不是新問題 —— 它是 N 個 SDOF 疊在一起：建矩陣 → 拆成 SDOF → 查譜 → 組合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核心考點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結構動力學「SD-U1-3」觀念講義｜原理、圖解與微型例題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本單元四大主題（對應底層邏輯的四個步驟）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SDOF：所有東西的基石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ω、T、ξ 三個數把結構講完。自由振動衰減反算阻尼比、諧和激振的放大係數 D、地震等效力 −müg。被拆解後的每條模態方程都長這樣。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MDOF：建矩陣與解耦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剪力屋架的三對角 [K]、柱勁度 12EI/h³ 或 3EI/h³、特徵值 det([K]−ω²[M])=0、振態正交性把 N 條牽扯的方程一次拆開。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模態量與反應譜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Γₙ、Mₙ*、Lₙ 三個模態量；查設計反應譜得 Sₐ、S_d，再換算樓層位移、樓層力、層剪力與基底剪力。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組合與連續體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SRSS 與 CQC 的適用時機、層間位移的組合順序陷阱；連續體則用 Rayleigh 法猜形狀求上界，以及靜態凝縮消去無質量自由度。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底層邏輯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 MDOF 一定要「先拆再組」？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/svg/d1 底層邏輯 MDOF 拆成 SD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問題在 [K] 的非對角項：三層的運動互相牽扯，三條方程解不開。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反應譜這個工具只認得 SDOF —— MDOF 沒有「一個週期」可以拿去查表。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解法是找出結構的自然振動方向（振態），用正交性把牽扯項一次消光。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拆開後每條都是單擺，查完譜再用 SRSS／CQC 裝回真實位移與力量。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SDOF 基石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頻率、週期與阻尼的定義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自然頻率與週期</a:t>
            </a:r>
            <a:endParaRPr lang="en-US" sz="1300" dirty="0"/>
          </a:p>
        </p:txBody>
      </p:sp>
      <p:pic>
        <p:nvPicPr>
          <p:cNvPr id="7" name="Image 0" descr="/home/claude/sd/formula_imgs/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4426" y="1773936"/>
            <a:ext cx="6635868" cy="694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質量：由重量換算</a:t>
            </a:r>
            <a:endParaRPr lang="en-US" sz="1300" dirty="0"/>
          </a:p>
        </p:txBody>
      </p:sp>
      <p:pic>
        <p:nvPicPr>
          <p:cNvPr id="11" name="Image 1" descr="/home/claude/sd/formula_imgs/f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016209"/>
            <a:ext cx="7772400" cy="44153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運動方程與臨界阻尼</a:t>
            </a:r>
            <a:endParaRPr lang="en-US" sz="1300" dirty="0"/>
          </a:p>
        </p:txBody>
      </p:sp>
      <p:pic>
        <p:nvPicPr>
          <p:cNvPr id="15" name="Image 2" descr="/home/claude/sd/formula_imgs/f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075163"/>
            <a:ext cx="7772400" cy="55476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阻尼頻率與阻尼週期</a:t>
            </a:r>
            <a:endParaRPr lang="en-US" sz="1300" dirty="0"/>
          </a:p>
        </p:txBody>
      </p:sp>
      <p:pic>
        <p:nvPicPr>
          <p:cNvPr id="19" name="Image 3" descr="/home/claude/sd/formula_imgs/f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287" y="5120640"/>
            <a:ext cx="6352146" cy="6949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防呆：k → ∞ 則 T → 0（硬到不會晃）、m → ∞ 則 T → ∞。第一大陷阱是題目給「重量 W」時忘了除 g。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SDOF 三個劇本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同一組 ω、T、ξ，三種輸入會得到三種完全不同的反應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/svg/d2 SDOF 三個劇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自由振動：量「每過一圈掉多少」就能反算阻尼比，這是實測阻尼的唯一手段。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諧和激振：反應被放大 D 倍並落後一個相位角，D 只看 r 與 ξ。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地震：不是外力作用在結構上，而是基底在動，等效力為 −m·üg(t)。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反應譜就是把「所有可能的 T」各做一次地震歷時分析，取最大值畫成的包絡線。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阻尼與諧和激振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對數衰減率與放大係數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對數衰減率</a:t>
            </a:r>
            <a:endParaRPr lang="en-US" sz="1300" dirty="0"/>
          </a:p>
        </p:txBody>
      </p:sp>
      <p:pic>
        <p:nvPicPr>
          <p:cNvPr id="7" name="Image 0" descr="/home/claude/sd/formula_imgs/f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9819" y="1773936"/>
            <a:ext cx="3425081" cy="694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 δ 反算阻尼比</a:t>
            </a:r>
            <a:endParaRPr lang="en-US" sz="1300" dirty="0"/>
          </a:p>
        </p:txBody>
      </p:sp>
      <p:pic>
        <p:nvPicPr>
          <p:cNvPr id="11" name="Image 1" descr="/home/claude/sd/formula_imgs/f2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373" y="2889504"/>
            <a:ext cx="2385974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頻率比與放大係數</a:t>
            </a:r>
            <a:endParaRPr lang="en-US" sz="1300" dirty="0"/>
          </a:p>
        </p:txBody>
      </p:sp>
      <p:pic>
        <p:nvPicPr>
          <p:cNvPr id="15" name="Image 2" descr="/home/claude/sd/formula_imgs/f2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629" y="4005072"/>
            <a:ext cx="5887461" cy="6949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共振與隔振</a:t>
            </a:r>
            <a:endParaRPr lang="en-US" sz="1300" dirty="0"/>
          </a:p>
        </p:txBody>
      </p:sp>
      <p:pic>
        <p:nvPicPr>
          <p:cNvPr id="19" name="Image 3" descr="/home/claude/sd/formula_imgs/f2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242" y="5120640"/>
            <a:ext cx="7042237" cy="6949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 用「連續 j 個週期」的振幅比反算最準；ξ &lt; 20% 時 ξ ≈ δ/2π 的誤差在 2% 以內，考場可直接用近似式。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放大係數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為什麼隔震要「把週期拉長」？從 D–r 曲線一眼看懂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/svg/d3 放大係數與頻率比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&lt; 1 準靜態區：結構跟得上外力，D → 1，加阻尼幾乎沒有用。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≈ 1 共振區：能量每圈累積，D 完全由阻尼擋住，D_max = 1/(2ξ)。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&gt; √2 隔振區：質量來不及反應，D &lt; 1 —— 隔震就是把 T 拉長、把 r 推大。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加阻尼只在共振區有效：ξ 由 2% 提到 10%，共振反應由 25 倍降到 5 倍。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MICRO EXAMPLE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微型例題① — 水塔：週期、阻尼比與機械激振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332720" y="713232"/>
            <a:ext cx="1298448" cy="384048"/>
          </a:xfrm>
          <a:prstGeom prst="roundRect">
            <a:avLst>
              <a:gd name="adj" fmla="val 19048"/>
            </a:avLst>
          </a:prstGeom>
          <a:solidFill>
            <a:srgbClr val="E8734A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71323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SDOF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2A3F5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　</a:t>
            </a:r>
            <a:pPr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水塔頂部集中重量 W = 98.1 tf，側向勁度 k = 2000 tf/m。自由振動試驗量得連續 4 個週期後振幅由 2.00 cm 衰減到 0.80 cm。頂部擬裝設 250 rpm 的機械設備。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84832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14884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質量與自然週期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2468880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W/g = 98.1 / 9.81 = 10.000 tf·s²/m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 = √(k/m) = √(2000/10) = 14.1421 rad/s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2π/ω = 0.44429 s　　f = 2.2508 Hz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※ 給「重量」一定先除 g，否則 T 會差 √9.81 ≈ 3.13 倍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38544" y="20848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638544" y="2084832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14884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由自由衰減反算阻尼比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468880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 = (1/4)·ln(2.00/0.80) = (1/4)(0.91629) = 0.22907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ξ = δ/√(4π²+δ²) = 3.643 %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近似式 ξ ≈ δ/2π = 3.646 %（誤差 0.07%）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※ 用「連續 j 個週期」比只量一圈準得多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68496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03250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阻尼週期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4352544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T_D = T/√(1−ξ²) = 0.44429/0.99934 = 0.44458 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與無阻尼週期只差 0.07 %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※ ξ &lt; 20% 時一律可用 T_D ≈ T，考場不必多算一步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38544" y="39684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638544" y="3968496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03250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機械諧和激振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352544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 = 2π(250)/60 = 26.1799 rad/s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Ω/ω = 1.8512 &gt; √2 → 落在隔振區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= 1/√((1−r²)²+(2ξr)²) = 0.4114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若設計成 r = 1：D = 1/(2ξ) = 13.72（放大 13.7 倍）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88873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 w="1778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8887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　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0.44429 s、ξ = 3.64%；機械 r = 1.851 落在隔振區，D = 0.4114（反應被壓小）。同一台機器若讓 r = 1，反應會放大 13.7 倍 —— 這就是「避開共振」比「加阻尼」更有效的原因。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建立矩陣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[K] 的每一行是怎麼「數」出來的？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/svg/d4 勁度矩陣的組成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單位位移法：給第 j 層 1 單位位移、其餘鎖住，各層需要施加的力就是 [K] 的第 j 行。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剪力屋架必為三對角：對角 = kᵢ + kᵢ₊₁，次對角 = −kᵢ₊₁，頂層只有一支彈簧。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層勁度由柱的邊界條件決定：剛性梁（雙曲率）12EI/h³，柱頂鉸接（單曲率）3EI/h³，差 4 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本案例 3 層屋架（m = 10、k = 2000）會一路貫穿例②～例④，數字前後呼應。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MDOF 建立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運動方程與勁度矩陣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MDOF 地震運動方程</a:t>
            </a:r>
            <a:endParaRPr lang="en-US" sz="1300" dirty="0"/>
          </a:p>
        </p:txBody>
      </p:sp>
      <p:pic>
        <p:nvPicPr>
          <p:cNvPr id="7" name="Image 0" descr="/home/claude/sd/formula_imgs/f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781591"/>
            <a:ext cx="7772400" cy="67963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剪力屋架三對角 [K]</a:t>
            </a:r>
            <a:endParaRPr lang="en-US" sz="1300" dirty="0"/>
          </a:p>
        </p:txBody>
      </p:sp>
      <p:pic>
        <p:nvPicPr>
          <p:cNvPr id="11" name="Image 1" descr="/home/claude/sd/formula_imgs/f3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020820"/>
            <a:ext cx="7772400" cy="43231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柱勁度：雙曲率</a:t>
            </a:r>
            <a:endParaRPr lang="en-US" sz="1300" dirty="0"/>
          </a:p>
        </p:txBody>
      </p:sp>
      <p:pic>
        <p:nvPicPr>
          <p:cNvPr id="15" name="Image 2" descr="/home/claude/sd/formula_imgs/f3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363" y="4005072"/>
            <a:ext cx="7397995" cy="6949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柱勁度：柱頂鉸接</a:t>
            </a:r>
            <a:endParaRPr lang="en-US" sz="1300" dirty="0"/>
          </a:p>
        </p:txBody>
      </p:sp>
      <p:pic>
        <p:nvPicPr>
          <p:cNvPr id="19" name="Image 3" descr="/home/claude/sd/formula_imgs/f3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875" y="5120640"/>
            <a:ext cx="7138970" cy="6949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右側 −[M]{1}üg 中的 {1} 是影響向量：地面移動 1 單位時各自由度的靜態位移。水平地震下剪力屋架剛好全是 1，但轉角自由度對應的分量是 0。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解題決策地圖：從讀題到組合，一條路走到底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先分「連續體 / 集中質量」，再分「N = 1 / N ≥ 2」，之後的動作完全固定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動力分析題目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結構類別？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3" name="Text 11"/>
          <p:cNvSpPr/>
          <p:nvPr/>
        </p:nvSpPr>
        <p:spPr>
          <a:xfrm>
            <a:off x="5188306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連續體（梁／橋墩）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Rayleigh 猜 ψ(x)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8578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5" name="Text 13"/>
          <p:cNvSpPr/>
          <p:nvPr/>
        </p:nvSpPr>
        <p:spPr>
          <a:xfrm>
            <a:off x="5188306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集中質量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先數自由度 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無質量的轉角 DOF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先做靜態凝縮消去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= 1 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1" name="Text 19"/>
          <p:cNvSpPr/>
          <p:nvPr/>
        </p:nvSpPr>
        <p:spPr>
          <a:xfrm>
            <a:off x="9763963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N=1：直接走 SDOF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ω、T、ξ、D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54235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23" name="Text 21"/>
          <p:cNvSpPr/>
          <p:nvPr/>
        </p:nvSpPr>
        <p:spPr>
          <a:xfrm>
            <a:off x="9763963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N≥2：解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det([K]−ω²[M])=0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得 ωₙ、{φₙ}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數節點 = n−1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Γₙ = Lₙ/Mₙ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Mₙ* = ΓₙLₙ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查譜 Sₐ(Tₙ)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S_d = Sₐg/ωₙ²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各模態 u、f、V_b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822546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822546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110374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110374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654235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54235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790749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518818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02920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SRSS／CQC 組合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2809037" y="4032504"/>
            <a:ext cx="8876995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91917" y="4032504"/>
            <a:ext cx="85112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層間位移例外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必須先算各模態的層間位移再組合；用組合後的位移相減會低估（本例屋頂層低估 5.1%）。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四個一定要做的檢查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2" name="Text 50"/>
          <p:cNvSpPr/>
          <p:nvPr/>
        </p:nvSpPr>
        <p:spPr>
          <a:xfrm>
            <a:off x="950976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節點數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n 振態 n−1 個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41299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4" name="Text 52"/>
          <p:cNvSpPr/>
          <p:nvPr/>
        </p:nvSpPr>
        <p:spPr>
          <a:xfrm>
            <a:off x="3632454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ΣMₙ*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Σmⱼ 總質量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094476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6" name="Text 54"/>
          <p:cNvSpPr/>
          <p:nvPr/>
        </p:nvSpPr>
        <p:spPr>
          <a:xfrm>
            <a:off x="6313932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ΣΓₙφₙ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每層都要 = 1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77595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8" name="Text 56"/>
          <p:cNvSpPr/>
          <p:nvPr/>
        </p:nvSpPr>
        <p:spPr>
          <a:xfrm>
            <a:off x="8995410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質量參與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累積 &gt; 90%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特徵值的意義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振態到底是什麼？—— 力的形狀與位移的形狀同形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/svg/d5 振態的幾何意義與手算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隨便給一個變形，[K]{u} 算出來的力形狀與 {u} 不同 → 放手後形狀會一直變。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只有振態滿足 [K]{φ} = ω²[M]{φ}：力形狀 = 位移形狀 × ω²m，形狀固定不變。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形狀固定、只有振幅隨時間變，正是單擺的定義 —— 這就是能拆成 SDOF 的物理根據。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手算 3-DOF 先非因次化 λ = ω²m/k，再用三個不變量寫出三次式，有理根必為常數項的因數。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特徵值問題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特徵方程與手算路徑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特徵值與特徵向量</a:t>
            </a:r>
            <a:endParaRPr lang="en-US" sz="1300" dirty="0"/>
          </a:p>
        </p:txBody>
      </p:sp>
      <p:pic>
        <p:nvPicPr>
          <p:cNvPr id="7" name="Image 0" descr="/home/claude/sd/formula_imgs/f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34317"/>
            <a:ext cx="7772400" cy="57418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非因次化後的三次式</a:t>
            </a:r>
            <a:endParaRPr lang="en-US" sz="1300" dirty="0"/>
          </a:p>
        </p:txBody>
      </p:sp>
      <p:pic>
        <p:nvPicPr>
          <p:cNvPr id="11" name="Image 1" descr="/home/claude/sd/formula_imgs/f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668" y="2889504"/>
            <a:ext cx="6501384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三個不變量</a:t>
            </a:r>
            <a:endParaRPr lang="en-US" sz="1300" dirty="0"/>
          </a:p>
        </p:txBody>
      </p:sp>
      <p:pic>
        <p:nvPicPr>
          <p:cNvPr id="15" name="Image 2" descr="/home/claude/sd/formula_imgs/f4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063724"/>
            <a:ext cx="7772400" cy="577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本案例（例②）</a:t>
            </a:r>
            <a:endParaRPr lang="en-US" sz="1300" dirty="0"/>
          </a:p>
        </p:txBody>
      </p:sp>
      <p:pic>
        <p:nvPicPr>
          <p:cNvPr id="19" name="Image 3" descr="/home/claude/sd/formula_imgs/f4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5228077"/>
            <a:ext cx="7772400" cy="48007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特徵向量只定形狀不定大小：φ 乘任何常數仍是同一個振態。習慣上以頂層 = 1 或質量正規化（φᵀ[M]φ = 1）兩種方式之一固定它。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MICRO EXAMPLE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微型例題② — 3 層剪力屋架的週期與振態（手算）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332720" y="713232"/>
            <a:ext cx="1298448" cy="384048"/>
          </a:xfrm>
          <a:prstGeom prst="roundRect">
            <a:avLst>
              <a:gd name="adj" fmla="val 19048"/>
            </a:avLst>
          </a:prstGeom>
          <a:solidFill>
            <a:srgbClr val="E8734A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71323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特徵值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2A3F5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　</a:t>
            </a:r>
            <a:pPr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層剪力屋架，每層質量 m = 10 tf·s²/m，層間勁度由下而上 k₁ = k₂ = 4000 tf/m、k₃ = 2000 tf/m（令 k = 2000）。求三個自然週期與振態。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84832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14884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建矩陣並非因次化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2468880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[K]/k = [[4, −2, 0], [−2, 3, −1], [0, −1, 1]] = [A]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[M]/m = [I]，令 λ = ω²m/k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det([A] − λ[I]) = 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※ 抽出 k、m 後係數全變小整數，才好試根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38544" y="20848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638544" y="2084832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14884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三個不變量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468880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I₁ = tr[A] = 4 + 3 + 1 = 8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I₂ = 8 + 4 + 2 = 14　（三個 2×2 主子式）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I₃ = det[A] = 4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λ³ − 8λ² + 14λ − 4 = 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68496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03250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試根 + 因式分解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4352544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有理根必為 I₃ = 4 的因數：±1, ±2, ±4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 = 2：8 − 32 + 28 − 4 = 0 ✓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(λ − 2)(λ² − 6λ + 2) = 0 → λ = 3 ± √7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 = 0.354249、2、5.645751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38544" y="39684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638544" y="3968496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03250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頻率、週期與振態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352544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 = √(λk/m) = 8.4172、20.0000、33.6028 rad/s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0.74647、0.31416、0.18698 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φ₁ = (0.3542, 0.6458, 1)　節點 0 個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φ₂ = (−1, −1, 1) 節點 1 個；φ₃ = (5.646, −4.646, 1) 節點 2 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88873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 w="1778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8887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　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T₁ = 0.74647 s、T₂ = 0.31416 s、T₃ = 0.18698 s。三個振態的變號節點數為 0、1、2 = n − 1 ✓，且 T₁ 最長 —— 兩個檢查同時通過，特徵值的排序才確定沒有顛倒。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振態全貌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三個振態長什麼樣：節點數與正交性的實算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/svg/d6 三個振態全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n 振態有 n−1 個變號節點，這是考場最快的自我檢查。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第一振態全同號（整棟同向搖）、第三振態頂層與底層反向且幅值最大。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T₁ : T₂ : T₃ = 1 : 0.42 : 0.25 —— 高振態週期短、反應快。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正交性表的非對角項是 1e−15 等級的數值零，這就是解耦成立的實證。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正交性與解耦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座標轉換與模態方程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雙重正交性</a:t>
            </a:r>
            <a:endParaRPr lang="en-US" sz="1300" dirty="0"/>
          </a:p>
        </p:txBody>
      </p:sp>
      <p:pic>
        <p:nvPicPr>
          <p:cNvPr id="7" name="Image 0" descr="/home/claude/sd/formula_imgs/f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21816"/>
            <a:ext cx="7772400" cy="59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模態座標轉換</a:t>
            </a:r>
            <a:endParaRPr lang="en-US" sz="1300" dirty="0"/>
          </a:p>
        </p:txBody>
      </p:sp>
      <p:pic>
        <p:nvPicPr>
          <p:cNvPr id="11" name="Image 1" descr="/home/claude/sd/formula_imgs/f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851" y="2889504"/>
            <a:ext cx="3419018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n 條模態方程</a:t>
            </a:r>
            <a:endParaRPr lang="en-US" sz="1300" dirty="0"/>
          </a:p>
        </p:txBody>
      </p:sp>
      <p:pic>
        <p:nvPicPr>
          <p:cNvPr id="15" name="Image 2" descr="/home/claude/sd/formula_imgs/f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052633"/>
            <a:ext cx="7772400" cy="59982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同除 Mₙ 後（＝單擺）</a:t>
            </a:r>
            <a:endParaRPr lang="en-US" sz="1300" dirty="0"/>
          </a:p>
        </p:txBody>
      </p:sp>
      <p:pic>
        <p:nvPicPr>
          <p:cNvPr id="19" name="Image 3" descr="/home/claude/sd/formula_imgs/f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5212557"/>
            <a:ext cx="7772400" cy="5111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阻尼要能一起對角化需假設「古典阻尼」（如 Rayleigh 阻尼 [C] = a[M] + b[K]）。考題幾乎都預設成立，但觀念上這是一個額外假設，不是正交性自動保證的。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解耦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座標一換，兩個矩陣同時對角化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/svg/d7 解耦與模態疊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物理座標下 [K] 是滿的；換到模態座標後 [M*]、[K*] 同時變成對角矩陣。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n 條方程同除 Mₙ 後與單擺一模一樣，只差右邊多乘一個 Γₙ。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 qₙ(t) = −Γₙ Dₙ(t)，Dₙ 就是週期 Tₙ、阻尼 ξₙ 的標準 SDOF 反應。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 沒有物理意義（不是位移），一定要乘回 φ 才是真實樓層位移。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模態參與量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Lₙ、Mₙ、Γₙ 與有效模態質量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廣義激振與廣義質量</a:t>
            </a:r>
            <a:endParaRPr lang="en-US" sz="1300" dirty="0"/>
          </a:p>
        </p:txBody>
      </p:sp>
      <p:pic>
        <p:nvPicPr>
          <p:cNvPr id="7" name="Image 0" descr="/home/claude/sd/formula_imgs/f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778020"/>
            <a:ext cx="7772400" cy="6867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模態參與因子</a:t>
            </a:r>
            <a:endParaRPr lang="en-US" sz="1300" dirty="0"/>
          </a:p>
        </p:txBody>
      </p:sp>
      <p:pic>
        <p:nvPicPr>
          <p:cNvPr id="11" name="Image 1" descr="/home/claude/sd/formula_imgs/f6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209" y="2889504"/>
            <a:ext cx="4878301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有效模態質量</a:t>
            </a:r>
            <a:endParaRPr lang="en-US" sz="1300" dirty="0"/>
          </a:p>
        </p:txBody>
      </p:sp>
      <p:pic>
        <p:nvPicPr>
          <p:cNvPr id="15" name="Image 2" descr="/home/claude/sd/formula_imgs/f6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90" y="4005072"/>
            <a:ext cx="3506540" cy="6949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單位分解（免費驗算）</a:t>
            </a:r>
            <a:endParaRPr lang="en-US" sz="1300" dirty="0"/>
          </a:p>
        </p:txBody>
      </p:sp>
      <p:pic>
        <p:nvPicPr>
          <p:cNvPr id="19" name="Image 3" descr="/home/claude/sd/formula_imgs/f6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838" y="5120640"/>
            <a:ext cx="3041043" cy="6949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Γₙ 無因次（量級約 0.3–1.5）、Mₙ* 有質量因次 —— 兩者絕不可互換。基底剪力一定是乘 Mₙ*，樓層力才乘 Γₙ。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MICRO EXAMPLE 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微型例題③ — Γₙ、Mₙ* 與兩個免費驗算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332720" y="713232"/>
            <a:ext cx="1298448" cy="384048"/>
          </a:xfrm>
          <a:prstGeom prst="roundRect">
            <a:avLst>
              <a:gd name="adj" fmla="val 19048"/>
            </a:avLst>
          </a:prstGeom>
          <a:solidFill>
            <a:srgbClr val="E8734A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71323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模態量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2A3F5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　</a:t>
            </a:r>
            <a:pPr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承例②：m = 10 tf·s²/m（三層相同），φ₁ = (0.35425, 0.64575, 1)、φ₂ = (−1, −1, 1)、φ₃ = (5.64575, −4.64575, 1)。求各模態的 Γₙ 與有效模態質量。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84832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14884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Lₙ = φₙᵀ[M]{1} = m·Σφ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2468880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L₁ = 10 × (0.35425+0.64575+1) = 20.000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L₂ = 10 × (−1−1+1) = −10.000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L₃ = 10 × (5.6458−4.6458+1) = 20.000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※ 質量相同才可以提出來只加 φ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38544" y="20848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638544" y="2084832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14884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Mₙ = φₙᵀ[M]φₙ = m·Σφ²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468880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M₁ = 10 × 1.54249 = 15.425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M₂ = 10 × 3 = 30.000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M₃ = 10 × 54.4575 = 544.575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※ 高振態 φ 很大 → Mₙ 很大 → Γₙ 很小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68496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03250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Γₙ 與 Mₙ*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4352544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Γ₁ = 20.0/15.425 = 1.29661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Γ₂ = −10.0/30.0 = −0.33333　Γ₃ = 0.03673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M₁* = Γ₁L₁ = 25.932（86.44%）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M₂* = 3.333（11.11%）　M₃* = 0.735（2.45%）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38544" y="39684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638544" y="3968496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03250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兩個免費驗算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352544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ΣMₙ* = 25.932 + 3.333 + 0.735 = 30.000 = Σmⱼ ✓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屋頂：ΣΓₙφ₃ₙ = 1.297 − 0.333 + 0.037 = 1.000 ✓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 樓：0.837 + 0.333 + −0.171 = 1.000 ✓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累積質量參與：86.44% → 97.55% → 100%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88873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 w="1778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8887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　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 = (1.29661, −0.33333, 0.03673)、Mₙ* = (25.932, 3.333, 0.735) tf·s²/m。前兩個模態就佔 97.55% &gt; 90%，符合規範對動力分析取用模態數的要求；第三模態可取可不取。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有效模態質量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誰扛下地震力的大部分？兩個免費驗算長什麼樣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/svg/d8 有效模態質量與單位分解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第一模態扛 86.44%、前兩個模態累積 97.55% —— 這是「取幾個模態才夠」的唯一量化依據。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ΣMₙ* 必等於總質量：這是把所有模態加總後回到剛體運動的必然結果。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每一層的 ΣΓₙφ_jn = 1：負值往回扣，最後剛好回到 1（瀑布圖）。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Γₙφₙ 這個乘積與振態怎麼正規化無關 —— 換一種正規化，答案完全相同。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反應輸出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從 Sₐ、S_d 到位移、力與基底剪力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樓層位移</a:t>
            </a:r>
            <a:endParaRPr lang="en-US" sz="1300" dirty="0"/>
          </a:p>
        </p:txBody>
      </p:sp>
      <p:pic>
        <p:nvPicPr>
          <p:cNvPr id="7" name="Image 0" descr="/home/claude/sd/formula_imgs/f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657" y="1773936"/>
            <a:ext cx="4981405" cy="694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樓層絕對加速度</a:t>
            </a:r>
            <a:endParaRPr lang="en-US" sz="1300" dirty="0"/>
          </a:p>
        </p:txBody>
      </p:sp>
      <p:pic>
        <p:nvPicPr>
          <p:cNvPr id="11" name="Image 1" descr="/home/claude/sd/formula_imgs/f7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33" y="2889504"/>
            <a:ext cx="3932054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樓層力與基底剪力</a:t>
            </a:r>
            <a:endParaRPr lang="en-US" sz="1300" dirty="0"/>
          </a:p>
        </p:txBody>
      </p:sp>
      <p:pic>
        <p:nvPicPr>
          <p:cNvPr id="15" name="Image 2" descr="/home/claude/sd/formula_imgs/f7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068838"/>
            <a:ext cx="7772400" cy="56741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模態組合</a:t>
            </a:r>
            <a:endParaRPr lang="en-US" sz="1300" dirty="0"/>
          </a:p>
        </p:txBody>
      </p:sp>
      <p:pic>
        <p:nvPicPr>
          <p:cNvPr id="19" name="Image 3" descr="/home/claude/sd/formula_imgs/f7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956" y="5120640"/>
            <a:ext cx="5606808" cy="6949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四個式子都以「Γₙ × 形狀 × 譜值」為骨架。差別只在譜值用 S_d 還是 Sₐg，以及要不要再乘質量。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反應譜落點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三個週期落在譜的哪一段，就決定了誰大誰小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/svg/d9 設計反應譜與各模態落點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T₁ = 0.746 s 落在下降段（Sₐ = S_D1/T），T₂、T₃ 落在平台段拿到最大的 Sₐ = 0.6g。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高模態不是「Sₐ 小」而是「Mₙ* 小」，而且 S_d 被 ωₙ² 除掉，位移貢獻幾乎消失。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S_d = Sₐg/ωₙ² 是連接加速度譜與位移譜的橋樑（擬譜關係）。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查譜前務必確認 Sₐ 的單位是「g 的倍數」還是「cm/s²」，這是最常見的數量級錯誤。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MICRO EXAMPLE 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微型例題④ — 反應譜法：位移、基底剪力與層間位移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332720" y="713232"/>
            <a:ext cx="1298448" cy="384048"/>
          </a:xfrm>
          <a:prstGeom prst="roundRect">
            <a:avLst>
              <a:gd name="adj" fmla="val 19048"/>
            </a:avLst>
          </a:prstGeom>
          <a:solidFill>
            <a:srgbClr val="E8734A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71323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反應譜法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2A3F5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　</a:t>
            </a:r>
            <a:pPr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承例②③，設計反應譜 S_DS = 0.60、S_D1 = 0.36（T₀ = 0.6 s），樓高每層 3.5 m。求屋頂位移、基底剪力與最大層間位移。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84832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14884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查譜：三個 Tₙ 的 Sₐ 與 S_d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2468880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T₁ = 0.7465 &gt; T₀ → Sₐ₁ = 0.36/0.7465 = 0.4823 g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T₂、T₃ 在平台段 → Sₐ = 0.60 g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S_d = Sₐg/ωₙ² → 6.6776、1.4715、0.5213 cm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※ 同樣 0.6g，ω 越大位移越小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38544" y="20848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638544" y="2084832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14884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各模態屋頂位移 u = Γφ·S_d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468880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mode 1：1.29661 × 1.0 × 6.6776 = 8.6583 cm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mode 2：−0.33333 × 1.0 × 1.4715 = −0.4905 cm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mode 3：0.03673 × 1.0 × 0.5213 = 0.0191 cm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SRSS → u_屋頂 = 8.6722 cm（幾乎全由第一模態決定）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68496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03250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基底剪力 V_bn = Mₙ*·Sₐ·g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4352544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V_b1 = 25.9321 × 0.4823 × 9.81 = 122.687 tf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V_b2 = 19.620 tf　V_b3 = 4.323 tf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SRSS = √(122.7² + 19.6² + 4.3²) = 124.32 tf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直接相加 = 146.63 tf，高估 17.9 %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38544" y="39684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638544" y="3968496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03250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層間位移（順序不可顛倒）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352544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各模態屋頂層層間位移：3.0672、−0.9810、0.1081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SRSS = 3.2221 cm → 層間變位角 0.921 %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若改用「SRSS 位移相減」= 3.0589 cm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低估 5.1 %，這是本單元最常見的失分點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88873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 w="1778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8887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　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屋頂位移 8.6722 cm、基底剪力 124.32 tf（＝總重 294.3 tf 的 42.24%）、最大層間位移 3.2221 cm（變位角 0.921%）。層間位移一定要先算各模態再組合。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模態組合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SRSS 在做什麼？以及層間位移為什麼不能相減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/svg/d10 模態組合與層間位移陷阱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三個模態的峰值出現在不同時刻，所以直接相加（ΣABS）會高估 17.9%。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SRSS 是隨機振動理論下的期望最大值，前提是各模態頻率分得夠開（相差 &gt; 10%）。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3D 模型、扭轉與平移耦合造成頻率密集時改用 CQC；ρ → 1 時 CQC 會退化成直接相加。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組合後的量已經沒有正負號，也不再滿足平衡 —— 所以任何「相減」的動作都必須在組合之前做完。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Rayleigh 法與相關係數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核心公式速查 — 連續體的等效 SDOF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Rayleigh 商（上界）</a:t>
            </a:r>
            <a:endParaRPr lang="en-US" sz="1300" dirty="0"/>
          </a:p>
        </p:txBody>
      </p:sp>
      <p:pic>
        <p:nvPicPr>
          <p:cNvPr id="7" name="Image 0" descr="/home/claude/sd/formula_imgs/f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71306"/>
            <a:ext cx="7772400" cy="5002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廣義勁度與廣義質量</a:t>
            </a:r>
            <a:endParaRPr lang="en-US" sz="1300" dirty="0"/>
          </a:p>
        </p:txBody>
      </p:sp>
      <p:pic>
        <p:nvPicPr>
          <p:cNvPr id="11" name="Image 1" descr="/home/claude/sd/formula_imgs/f8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450" y="2889504"/>
            <a:ext cx="5739819" cy="6949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靜力位移法</a:t>
            </a:r>
            <a:endParaRPr lang="en-US" sz="1300" dirty="0"/>
          </a:p>
        </p:txBody>
      </p:sp>
      <p:pic>
        <p:nvPicPr>
          <p:cNvPr id="15" name="Image 2" descr="/home/claude/sd/formula_imgs/f8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941" y="4005072"/>
            <a:ext cx="7520838" cy="6949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CQC 相關係數</a:t>
            </a:r>
            <a:endParaRPr lang="en-US" sz="1300" dirty="0"/>
          </a:p>
        </p:txBody>
      </p:sp>
      <p:pic>
        <p:nvPicPr>
          <p:cNvPr id="19" name="Image 3" descr="/home/claude/sd/formula_imgs/f8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7915" y="5120640"/>
            <a:ext cx="4548889" cy="6949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Rayleigh 法猜的形狀只要滿足幾何邊界條件即可；猜得越接近真實第一振態，ω 越準。無論怎麼猜，結果永遠是上界（ω 高估、T 低估）。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MICRO EXAMPLE 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微型例題⑤ — Rayleigh 法：懸臂橋墩加上部結構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332720" y="713232"/>
            <a:ext cx="1298448" cy="384048"/>
          </a:xfrm>
          <a:prstGeom prst="roundRect">
            <a:avLst>
              <a:gd name="adj" fmla="val 19048"/>
            </a:avLst>
          </a:prstGeom>
          <a:solidFill>
            <a:srgbClr val="E8734A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71323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Rayleigh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2A3F5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　</a:t>
            </a:r>
            <a:pPr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圓形橋墩 D = 2.0 m、L = 12 m、Ec = 2.51×10⁶ tf/m²、混凝土單位重 2.4 tf/m³；墩頂上部結構重量 600 tf。取 ψ(x) = 1 − cos(πx/2L)。求第一振態週期。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84832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14884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斷面性質與形狀函數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2468880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 = πD⁴/64 = 0.7854 m⁴　EI = 1.9713×10⁶ tf·m²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m̄ = 2.4 × 3.1416 / 9.81 = 0.76859 tf·s²/m 每公尺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M_top = 600/9.81 = 61.162 tf·s²/m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ψ(0) = ψ'(0) = 0 ✓ 滿足固定端幾何邊界條件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38544" y="208483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638544" y="2084832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14884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廣義勁度 k*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468880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ψ'' = (π/2L)²cos(πx/2L)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k* = ∫EI(ψ'')²dx = π⁴EI/(32L³) = 3.0440·EI/L³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3.0440 × 1.9713×10⁶ / 1728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3472.7 tf/m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68496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03250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廣義質量 m*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4352544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∫ψ²dx = (1.5 − 4/π)L = 0.22676 L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桿件：0.22676 × 0.76859 × 12 = 2.0914 tf·s²/m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集中質量：M_top·ψ(L)² = 61.162 × 1² = 61.162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m* = 63.253 tf·s²/m（桿件只佔 3.3%）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38544" y="3968496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638544" y="3968496"/>
            <a:ext cx="68580" cy="1792224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03250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週期與上界性質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352544"/>
            <a:ext cx="51389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 = √(k*/m*) = √(3472.7/63.253) = 7.4096 rad/s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2π/ω = 0.84798 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純桿件時本形狀給 ω = 3.6639√(EI/m̄L⁴)，精確解 3.5160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高估 4.21 %（Rayleigh 必為上界）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88873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8F5EC"/>
          </a:solidFill>
          <a:ln w="1778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8887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　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0.8480 s。另以靜力位移法檢核：δ = 600/3472.7 = 0.17278 m，T = 2.01√δ = 0.8338 s（差 1.7%，因為它忽略了桿件自重）。注意 δ 必須以「公尺」代入。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全景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一張圖走完 SD-U1-3：四個步驟、一組數字、四個檢查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sd/svg/d11 全景圖與四大防呆檢查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左欄四步驟就是解任何一題的骨架：建矩陣 → 拆 → 查譜 → 組合。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右側是本單元基準案例的完整數字，可以拿來對照自己算的每一個中間量。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四大防呆檢查全部免費：節點數、ΣMₙ*、ΣΓₙφₙ、δ 的單位。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考場先花 30 秒判斷「連續體還是集中質量」、「N = 1 還是 N ≥ 2」，路就固定了。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SDOF、勁度矩陣與特徵值｜16 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週期</a:t>
            </a:r>
            <a:endParaRPr lang="en-US" sz="1050" dirty="0"/>
          </a:p>
        </p:txBody>
      </p:sp>
      <p:pic>
        <p:nvPicPr>
          <p:cNvPr id="7" name="Image 0" descr="/home/claude/sd/formula_imgs/s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44" y="1938528"/>
            <a:ext cx="2347191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質量由重量換算</a:t>
            </a:r>
            <a:endParaRPr lang="en-US" sz="1050" dirty="0"/>
          </a:p>
        </p:txBody>
      </p:sp>
      <p:pic>
        <p:nvPicPr>
          <p:cNvPr id="11" name="Image 1" descr="/home/claude/sd/formula_imgs/s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468" y="1938528"/>
            <a:ext cx="1987658" cy="651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阻尼比定義</a:t>
            </a:r>
            <a:endParaRPr lang="en-US" sz="1050" dirty="0"/>
          </a:p>
        </p:txBody>
      </p:sp>
      <p:pic>
        <p:nvPicPr>
          <p:cNvPr id="15" name="Image 2" descr="/home/claude/sd/formula_imgs/s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1951224"/>
            <a:ext cx="2462022" cy="62611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阻尼週期</a:t>
            </a:r>
            <a:endParaRPr lang="en-US" sz="1050" dirty="0"/>
          </a:p>
        </p:txBody>
      </p:sp>
      <p:pic>
        <p:nvPicPr>
          <p:cNvPr id="19" name="Image 3" descr="/home/claude/sd/formula_imgs/s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002" y="1968349"/>
            <a:ext cx="2462022" cy="59186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對數衰減率</a:t>
            </a:r>
            <a:endParaRPr lang="en-US" sz="1050" dirty="0"/>
          </a:p>
        </p:txBody>
      </p:sp>
      <p:pic>
        <p:nvPicPr>
          <p:cNvPr id="23" name="Image 4" descr="/home/claude/sd/formula_imgs/s2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63520"/>
            <a:ext cx="2462022" cy="58470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反算阻尼比</a:t>
            </a:r>
            <a:endParaRPr lang="en-US" sz="1050" dirty="0"/>
          </a:p>
        </p:txBody>
      </p:sp>
      <p:pic>
        <p:nvPicPr>
          <p:cNvPr id="27" name="Image 5" descr="/home/claude/sd/formula_imgs/s2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8527" y="3230118"/>
            <a:ext cx="1827541" cy="65151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放大係數</a:t>
            </a:r>
            <a:endParaRPr lang="en-US" sz="1050" dirty="0"/>
          </a:p>
        </p:txBody>
      </p:sp>
      <p:pic>
        <p:nvPicPr>
          <p:cNvPr id="31" name="Image 6" descr="/home/claude/sd/formula_imgs/s2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8673" y="3230118"/>
            <a:ext cx="2455963" cy="65151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共振放大</a:t>
            </a:r>
            <a:endParaRPr lang="en-US" sz="1050" dirty="0"/>
          </a:p>
        </p:txBody>
      </p:sp>
      <p:pic>
        <p:nvPicPr>
          <p:cNvPr id="35" name="Image 7" descr="/home/claude/sd/formula_imgs/s2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002" y="3284106"/>
            <a:ext cx="2462022" cy="543533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MDOF 地震方程</a:t>
            </a:r>
            <a:endParaRPr lang="en-US" sz="1050" dirty="0"/>
          </a:p>
        </p:txBody>
      </p:sp>
      <p:pic>
        <p:nvPicPr>
          <p:cNvPr id="39" name="Image 8" descr="/home/claude/sd/formula_imgs/s3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698346"/>
            <a:ext cx="2462022" cy="298235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三對角對角項</a:t>
            </a:r>
            <a:endParaRPr lang="en-US" sz="1050" dirty="0"/>
          </a:p>
        </p:txBody>
      </p:sp>
      <p:pic>
        <p:nvPicPr>
          <p:cNvPr id="43" name="Image 9" descr="/home/claude/sd/formula_imgs/s3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1286" y="4597740"/>
            <a:ext cx="2462022" cy="499445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柱勁度（雙曲率）</a:t>
            </a:r>
            <a:endParaRPr lang="en-US" sz="1050" dirty="0"/>
          </a:p>
        </p:txBody>
      </p:sp>
      <p:pic>
        <p:nvPicPr>
          <p:cNvPr id="47" name="Image 10" descr="/home/claude/sd/formula_imgs/s3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5644" y="4535593"/>
            <a:ext cx="2462022" cy="623740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柱勁度（頂鉸接）</a:t>
            </a:r>
            <a:endParaRPr lang="en-US" sz="1050" dirty="0"/>
          </a:p>
        </p:txBody>
      </p:sp>
      <p:pic>
        <p:nvPicPr>
          <p:cNvPr id="51" name="Image 11" descr="/home/claude/sd/formula_imgs/s3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5503" y="4521708"/>
            <a:ext cx="2391020" cy="65151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特徵方程</a:t>
            </a:r>
            <a:endParaRPr lang="en-US" sz="1050" dirty="0"/>
          </a:p>
        </p:txBody>
      </p:sp>
      <p:pic>
        <p:nvPicPr>
          <p:cNvPr id="55" name="Image 12" descr="/home/claude/sd/formula_imgs/s4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5939709"/>
            <a:ext cx="2462022" cy="398689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非因次化</a:t>
            </a:r>
            <a:endParaRPr lang="en-US" sz="1050" dirty="0"/>
          </a:p>
        </p:txBody>
      </p:sp>
      <p:pic>
        <p:nvPicPr>
          <p:cNvPr id="59" name="Image 13" descr="/home/claude/sd/formula_imgs/s4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1738" y="5813298"/>
            <a:ext cx="2201117" cy="65151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三次式（不變量）</a:t>
            </a:r>
            <a:endParaRPr lang="en-US" sz="1050" dirty="0"/>
          </a:p>
        </p:txBody>
      </p:sp>
      <p:pic>
        <p:nvPicPr>
          <p:cNvPr id="63" name="Image 14" descr="/home/claude/sd/formula_imgs/s4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5644" y="5973221"/>
            <a:ext cx="2462022" cy="331664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正交性</a:t>
            </a:r>
            <a:endParaRPr lang="en-US" sz="1050" dirty="0"/>
          </a:p>
        </p:txBody>
      </p:sp>
      <p:pic>
        <p:nvPicPr>
          <p:cNvPr id="67" name="Image 15" descr="/home/claude/sd/formula_imgs/s4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27956" y="5813298"/>
            <a:ext cx="2326114" cy="6515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解耦、模態量、反應輸出與 Rayleigh｜16 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座標轉換</a:t>
            </a:r>
            <a:endParaRPr lang="en-US" sz="1050" dirty="0"/>
          </a:p>
        </p:txBody>
      </p:sp>
      <p:pic>
        <p:nvPicPr>
          <p:cNvPr id="7" name="Image 0" descr="/home/claude/sd/formula_imgs/s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538" y="1938528"/>
            <a:ext cx="2400802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廣義勁度</a:t>
            </a:r>
            <a:endParaRPr lang="en-US" sz="1050" dirty="0"/>
          </a:p>
        </p:txBody>
      </p:sp>
      <p:pic>
        <p:nvPicPr>
          <p:cNvPr id="11" name="Image 1" descr="/home/claude/sd/formula_imgs/s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106" y="1938528"/>
            <a:ext cx="2298382" cy="651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模態方程</a:t>
            </a:r>
            <a:endParaRPr lang="en-US" sz="1050" dirty="0"/>
          </a:p>
        </p:txBody>
      </p:sp>
      <p:pic>
        <p:nvPicPr>
          <p:cNvPr id="15" name="Image 2" descr="/home/claude/sd/formula_imgs/s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2117908"/>
            <a:ext cx="2462022" cy="2927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模態座標解</a:t>
            </a:r>
            <a:endParaRPr lang="en-US" sz="1050" dirty="0"/>
          </a:p>
        </p:txBody>
      </p:sp>
      <p:pic>
        <p:nvPicPr>
          <p:cNvPr id="19" name="Image 3" descr="/home/claude/sd/formula_imgs/s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002" y="1965417"/>
            <a:ext cx="2462022" cy="5977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廣義激振</a:t>
            </a:r>
            <a:endParaRPr lang="en-US" sz="1050" dirty="0"/>
          </a:p>
        </p:txBody>
      </p:sp>
      <p:pic>
        <p:nvPicPr>
          <p:cNvPr id="23" name="Image 4" descr="/home/claude/sd/formula_imgs/s6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64598"/>
            <a:ext cx="2462022" cy="582551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參與因子</a:t>
            </a:r>
            <a:endParaRPr lang="en-US" sz="1050" dirty="0"/>
          </a:p>
        </p:txBody>
      </p:sp>
      <p:pic>
        <p:nvPicPr>
          <p:cNvPr id="27" name="Image 5" descr="/home/claude/sd/formula_imgs/s6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286" y="3250706"/>
            <a:ext cx="2462022" cy="610333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有效模態質量</a:t>
            </a:r>
            <a:endParaRPr lang="en-US" sz="1050" dirty="0"/>
          </a:p>
        </p:txBody>
      </p:sp>
      <p:pic>
        <p:nvPicPr>
          <p:cNvPr id="31" name="Image 6" descr="/home/claude/sd/formula_imgs/s6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644" y="3248456"/>
            <a:ext cx="2462022" cy="614834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質量總和驗算</a:t>
            </a:r>
            <a:endParaRPr lang="en-US" sz="1050" dirty="0"/>
          </a:p>
        </p:txBody>
      </p:sp>
      <p:pic>
        <p:nvPicPr>
          <p:cNvPr id="35" name="Image 7" descr="/home/claude/sd/formula_imgs/s6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002" y="3249636"/>
            <a:ext cx="2462022" cy="612473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樓層位移</a:t>
            </a:r>
            <a:endParaRPr lang="en-US" sz="1050" dirty="0"/>
          </a:p>
        </p:txBody>
      </p:sp>
      <p:pic>
        <p:nvPicPr>
          <p:cNvPr id="39" name="Image 8" descr="/home/claude/sd/formula_imgs/s7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572228"/>
            <a:ext cx="2462022" cy="550471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擬譜關係</a:t>
            </a:r>
            <a:endParaRPr lang="en-US" sz="1050" dirty="0"/>
          </a:p>
        </p:txBody>
      </p:sp>
      <p:pic>
        <p:nvPicPr>
          <p:cNvPr id="43" name="Image 9" descr="/home/claude/sd/formula_imgs/s7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3643" y="4521708"/>
            <a:ext cx="2417309" cy="651510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模態基底剪力</a:t>
            </a:r>
            <a:endParaRPr lang="en-US" sz="1050" dirty="0"/>
          </a:p>
        </p:txBody>
      </p:sp>
      <p:pic>
        <p:nvPicPr>
          <p:cNvPr id="47" name="Image 10" descr="/home/claude/sd/formula_imgs/s7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5644" y="4572705"/>
            <a:ext cx="2462022" cy="549516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SRSS</a:t>
            </a:r>
            <a:endParaRPr lang="en-US" sz="1050" dirty="0"/>
          </a:p>
        </p:txBody>
      </p:sp>
      <p:pic>
        <p:nvPicPr>
          <p:cNvPr id="51" name="Image 11" descr="/home/claude/sd/formula_imgs/s7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59642" y="4521708"/>
            <a:ext cx="1862743" cy="65151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Rayleigh 商</a:t>
            </a:r>
            <a:endParaRPr lang="en-US" sz="1050" dirty="0"/>
          </a:p>
        </p:txBody>
      </p:sp>
      <p:pic>
        <p:nvPicPr>
          <p:cNvPr id="55" name="Image 12" descr="/home/claude/sd/formula_imgs/s8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5818530"/>
            <a:ext cx="2462022" cy="641045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廣義勁度積分</a:t>
            </a:r>
            <a:endParaRPr lang="en-US" sz="1050" dirty="0"/>
          </a:p>
        </p:txBody>
      </p:sp>
      <p:pic>
        <p:nvPicPr>
          <p:cNvPr id="59" name="Image 13" descr="/home/claude/sd/formula_imgs/s8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69485" y="5813298"/>
            <a:ext cx="1985625" cy="65151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廣義質量積分</a:t>
            </a:r>
            <a:endParaRPr lang="en-US" sz="1050" dirty="0"/>
          </a:p>
        </p:txBody>
      </p:sp>
      <p:pic>
        <p:nvPicPr>
          <p:cNvPr id="63" name="Image 14" descr="/home/claude/sd/formula_imgs/s8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0057" y="5813298"/>
            <a:ext cx="1673196" cy="651510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靜力位移法</a:t>
            </a:r>
            <a:endParaRPr lang="en-US" sz="1050" dirty="0"/>
          </a:p>
        </p:txBody>
      </p:sp>
      <p:pic>
        <p:nvPicPr>
          <p:cNvPr id="67" name="Image 15" descr="/home/claude/sd/formula_imgs/s8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27786" y="5813298"/>
            <a:ext cx="2326455" cy="6515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高頻陷阱六則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給「重量 W」卻直接當質量用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W/g。tf–m–s 制下 g = 9.81，忘了除會讓 ω 差 3.13 倍、T 差 3.13 倍。反過來，若題目已給 tf·s²/m 就不要再除。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柱勁度用錯係數（12 vs 3）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剛性梁使柱呈雙曲率 → 12EI/h³；柱頂鉸接呈單曲率 → 3EI/h³，整整差 4 倍、T 差 2 倍。另外，無質量的轉角自由度要先做靜態凝縮消去，不要拿去解特徵值。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樓層絕對加速度漏掉 Γₙ 或 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ü_jn = φ_jn·Γₙ·Sₐ(Tₙ)·g。漏掉 Γₙ 會少算約 30%，忘了把「g 的倍數」換成 m/s² 則直接差一個數量級。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層間位移先組合再相減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必須「各模態的層間位移 → 再 SRSS」。用組合後的位移相減，本例屋頂層由 3.2221 cm 變成 3.0589 cm，低估 5.1%；樓層越高、高模態越活躍，低估越嚴重。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Γₙ 與 Mₙ* 混用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Γₙ 無因次、Mₙ* 有質量因次。基底剪力 V_bn = Mₙ*·Sₐ·g，樓層力 f_jn = Γₙ·m_j·φ_jn·Sₐ·g。把 Γₙ 當 Mₙ* 用，基底剪力會小一個數量級。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 = 2.01√δ 的 δ 用了公分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2.01 = 2π/√9.81 是「δ 以公尺代入」的係數；用公分要改成 0.201。另外 Rayleigh 法的答案永遠是上界（ω 高估、T 低估），不可拿來當「保守」的長週期值。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SD-U1-3｜重點回顧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79853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9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MDOF 沒有新物理：建矩陣 → det([K]−ω²[M])=0 拆成 SDOF → 查譜算 Sₐ、S_d → SRSS／CQC 裝回去，四個動作走完就結束。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919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34304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3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4919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振態是「回復力形狀＝位移形狀」的特殊變形；雙重正交性讓 N 條牽扯的方程一次解耦成 N 個單擺。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2387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012387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Γₙφₙ 與正規化方式無關；Γₙ 無因次、Mₙ* 有質量因次，ΣMₙ* 必等於總質量，這是最好用的免費驗算。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75581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06943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69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75581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高模態的 Sₐ 常常反而最大，貢獻小是因為 Mₙ* 小、S_d 被 ωₙ² 除掉；本例前兩模態已達 97.55% &gt; 90%。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73877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932627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3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3877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四大防呆：節點數 = n−1、ΣMₙ* = Σmⱼ、每層 ΣΓₙφₙ = 1、T = 2.01√δ 的 δ 以公尺代入。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SD-U1-3 觀念講義</dc:creator>
  <cp:lastModifiedBy>SD-U1-3 觀念講義</cp:lastModifiedBy>
  <cp:revision>1</cp:revision>
  <dcterms:created xsi:type="dcterms:W3CDTF">2026-09-16T05:42:32Z</dcterms:created>
  <dcterms:modified xsi:type="dcterms:W3CDTF">2026-09-16T05:42:32Z</dcterms:modified>
</cp:coreProperties>
</file>
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　結構動力學｜觀念講義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運動方程式推導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難的永遠不是「解方程式」，而是「如何把方程式正確寫出來」—— 建模四步驟與三大代公式路線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結構動力學｜SD-U1-2 運動方程式推導｜觀念講義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本單元四大主題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數自由度與選座標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自由度由「約束」決定，不是數質量個數；座標從靜平衡位置量、地震題用相對位移，方程式右邊才會乾淨。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路線 1：向量法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牛頓第二定律／D'Alembert。把慣性力移到等號左邊，動力問題變成靜力平衡；集中質量與剪力屋架最適用。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路線 2：純量法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Lagrange 方程。只要出現剛性桿、鉸支承、轉動、倒擺，約束力不做功而自動消失，省下解 5～6 個內力。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路線 3 與矩陣整理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連續體先假設形函數 ψ(x) 化成廣義單自由度；多自由度則從 T 與 U 的二次式係數直接「讀」出 [M] 與 [K]。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為什麼三條路線寫出來會是同一條方程式？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1 底層邏輯與三條路線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底層物理只有一句話：慣性力 + 阻尼力 + 恢復力 = 外力。三條路線只是「把這句話寫下來」的三種語言。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向量法寫「力的平衡」，需要方向與自由體圖；純量法寫「能量」，不需要方向，約束力自動消失。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選路線的唯一判準是「成本」：哪一條寫得快、出錯機會少，就用哪一條 —— 答案一定相同。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四步驟 SOP 的順序不可顛倒：先確定有幾個未知數，才知道要寫幾條方程式。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基本方程與符號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單自由度運動方程與基本參數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標準運動方程式</a:t>
            </a:r>
            <a:endParaRPr lang="en-US" sz="1300" dirty="0"/>
          </a:p>
        </p:txBody>
      </p:sp>
      <p:pic>
        <p:nvPicPr>
          <p:cNvPr id="7" name="Image 0" descr="/home/claude/sd2/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373" y="1847088"/>
            <a:ext cx="343597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自然頻率與週期</a:t>
            </a:r>
            <a:endParaRPr lang="en-US" sz="1300" dirty="0"/>
          </a:p>
        </p:txBody>
      </p:sp>
      <p:pic>
        <p:nvPicPr>
          <p:cNvPr id="11" name="Image 1" descr="/home/claude/sd2/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887" y="2962656"/>
            <a:ext cx="3340947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臨界阻尼與阻尼比</a:t>
            </a:r>
            <a:endParaRPr lang="en-US" sz="1300" dirty="0"/>
          </a:p>
        </p:txBody>
      </p:sp>
      <p:pic>
        <p:nvPicPr>
          <p:cNvPr id="15" name="Image 2" descr="/home/claude/sd2/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23" y="4078224"/>
            <a:ext cx="353607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D'Alembert 慣性力</a:t>
            </a:r>
            <a:endParaRPr lang="en-US" sz="1300" dirty="0"/>
          </a:p>
        </p:txBody>
      </p:sp>
      <p:pic>
        <p:nvPicPr>
          <p:cNvPr id="19" name="Image 3" descr="/home/claude/sd2/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722" y="5193792"/>
            <a:ext cx="5097276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符號：m 質量、c 黏滯阻尼係數、k 勁度、p(t) 外力。慣性力 f_I 是「虛擬力」，方向與加速度相反；加上它之後，動力問題在形式上就是靜力平衡問題。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步驟一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自由度到底怎麼數？（提示：不是數質量個數）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2 數自由度與約束條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問自己一句話：「最少需要幾個獨立的數字，才能完整描述系統的變形形狀？」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軸向剛性的連桿會把兩個質量綁成一個自由度；反之一根剛體桿可同時有平移與轉動兩個自由度。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剪力屋架的三個假設（樓版剛性、柱軸向不可伸長、忽略轉動慣量）各刪掉一整類自由度。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集中質量若要考慮轉動慣量 I_G，就會多出一個轉角自由度 —— 題目有沒有給轉動慣量是關鍵線索。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自由度與剛體慣量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剛體桿的位移內插與轉動慣量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小角度位移內插</a:t>
            </a:r>
            <a:endParaRPr lang="en-US" sz="1300" dirty="0"/>
          </a:p>
        </p:txBody>
      </p:sp>
      <p:pic>
        <p:nvPicPr>
          <p:cNvPr id="7" name="Image 0" descr="/home/claude/sd2/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2390" y="1847088"/>
            <a:ext cx="46799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平行軸定理</a:t>
            </a:r>
            <a:endParaRPr lang="en-US" sz="1300" dirty="0"/>
          </a:p>
        </p:txBody>
      </p:sp>
      <p:pic>
        <p:nvPicPr>
          <p:cNvPr id="11" name="Image 1" descr="/home/claude/sd2/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07" y="2962656"/>
            <a:ext cx="2490507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均質桿對端點</a:t>
            </a:r>
            <a:endParaRPr lang="en-US" sz="1300" dirty="0"/>
          </a:p>
        </p:txBody>
      </p:sp>
      <p:pic>
        <p:nvPicPr>
          <p:cNvPr id="15" name="Image 2" descr="/home/claude/sd2/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009" y="4078224"/>
            <a:ext cx="431270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廣義質量／勁度／阻尼</a:t>
            </a:r>
            <a:endParaRPr lang="en-US" sz="1300" dirty="0"/>
          </a:p>
        </p:txBody>
      </p:sp>
      <p:pic>
        <p:nvPicPr>
          <p:cNvPr id="19" name="Image 3" descr="/home/claude/sd2/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869" y="5193792"/>
            <a:ext cx="686498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剛體桿繞固定軸轉動時，任一點位移 = 該點到轉軸的距離 × θ。所以彈簧、阻尼、質量各自「距離的平方」就是它們對廣義量的貢獻權重 —— 離轉軸越遠，貢獻越大。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剛性桿（鉸支承）＋ 端點集中質量 → 廣義單自由度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桿長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4 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31566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桿質量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m̄L = 400 kg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6974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9901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端點質量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300 kg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85309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8235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8000 @ a = 3 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03643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6570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800 @ b = 2 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21978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數自由度、選廣義座標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整根桿為剛體、A 端為鉸 → 自由度 = 1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取繞 A 的轉角 θ 為廣義座標，u(x) = xθ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由靜平衡位置量起 → 重力自動抵消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（桿為水平時，mg 與彈簧預壓互相抵消）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1384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廣義質量 m*（＝對 A 的轉動慣量）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56248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均質桿：I_A = mL²/3 = 2133.33 kg·m²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端點質量：m x² = 300 × 4² = 4800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m* = 2133.33 + 4800 = 6933.33 kg·m²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端點質量佔 69.2% —— 離轉軸越遠影響越大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廣義勁度與阻尼（距離平方加權）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4672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k a² = 8000 × 3² = 72000 N·m/rad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c* = c b² = 800 × 2² = 3200 N·m·s/rad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注意：a、b 不同，不能用同一個距離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量綱檢核：k*/m* 的單位是 1/s² 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0216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1384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65013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頻率、週期與阻尼比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56248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√(k*/m*) = √(72000/6933.3) = 3.2225 rad/s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2π/ω = 1.9498 s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c_cr = 2m*ω = 44686 → ξ = c*/c_cr = 7.16%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ω_D = ω√(1−ξ²) = 3.2142 rad/s（與 ω 幾乎相同）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6071616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60716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m* = 6933.3 kg·m²、k* = 72000、c* = 3200 → T = 1.9498 s、ξ = 7.16%；低阻尼（ξ &lt; 20%）時 ω_D ≈ ω，可直接用 ω 估週期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本題用牛頓法取 ΣM_A = 0 也可以做 —— 因為只有一個剛體且繞固定軸轉動，鉸反力對 A 不產生力矩。一旦變成兩根桿，就必須改用 Lagrange。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步驟二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座標選對了，方程式右邊就會自己變乾淨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3 座標選擇與等效地震力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從靜平衡位置量位移：重力被「藏進座標原點」，右邊不必再寫常數項 mg。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代價是 u 只代表「動態部分」；若題目問總變形，記得加回靜態偏移 δₛₜ = mg/k。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地震題改用相對位移 u = uᵗ − u_g：阻尼力與彈簧力本來就只認相對位移。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慣性力認的是絕對加速度，所以右邊會留下 −m ü_g(t) —— 這就是「等效地震力」的由來。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座標選擇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靜平衡座標與地震相對座標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靜平衡條件</a:t>
            </a:r>
            <a:endParaRPr lang="en-US" sz="1300" dirty="0"/>
          </a:p>
        </p:txBody>
      </p:sp>
      <p:pic>
        <p:nvPicPr>
          <p:cNvPr id="7" name="Image 0" descr="/home/claude/sd2/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430" y="1847088"/>
            <a:ext cx="186585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重力自動抵消</a:t>
            </a:r>
            <a:endParaRPr lang="en-US" sz="1300" dirty="0"/>
          </a:p>
        </p:txBody>
      </p:sp>
      <p:pic>
        <p:nvPicPr>
          <p:cNvPr id="11" name="Image 1" descr="/home/claude/sd2/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082" y="2962656"/>
            <a:ext cx="634655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絕對 = 相對 + 地表</a:t>
            </a:r>
            <a:endParaRPr lang="en-US" sz="1300" dirty="0"/>
          </a:p>
        </p:txBody>
      </p:sp>
      <p:pic>
        <p:nvPicPr>
          <p:cNvPr id="15" name="Image 2" descr="/home/claude/sd2/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259" y="4078224"/>
            <a:ext cx="380220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等效地震力</a:t>
            </a:r>
            <a:endParaRPr lang="en-US" sz="1300" dirty="0"/>
          </a:p>
        </p:txBody>
      </p:sp>
      <p:pic>
        <p:nvPicPr>
          <p:cNvPr id="19" name="Image 3" descr="/home/claude/sd2/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689" y="5193792"/>
            <a:ext cx="555134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多自由度時等效地震力為 −[M]{1}ü_g(t)，其中 {1} 為影響向量（各自由度在地表單位位移下的剛體位移）。對純水平剪力屋架，{1} 就是全 1 向量。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解題決策地圖：從題目特徵到運動方程式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四步驟 SOP 展開後的完整路徑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動力學題目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數自由度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（看約束）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選座標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靜平衡／相對位移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有剛體桿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或鉸約束？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763963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否：畫自由體圖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牛頓／D'Alembert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9" name="Text 17"/>
          <p:cNvSpPr/>
          <p:nvPr/>
        </p:nvSpPr>
        <p:spPr>
          <a:xfrm>
            <a:off x="9763963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是：寫 T、V、D、Q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套 Lagrange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是連續體嗎？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76134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否：直接得方程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5" name="Text 23"/>
          <p:cNvSpPr/>
          <p:nvPr/>
        </p:nvSpPr>
        <p:spPr>
          <a:xfrm>
            <a:off x="7476134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是：設 ψ(x)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積分成 m*、k*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單自由度？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多自由度：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T、U 讀矩陣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檢查對稱性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與量綱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98203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54235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54235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3664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664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運動方程式（或 [M]、[C]、[K]）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小角度陷阱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位能含重力時，cosθ 必須展開到二階（1 − θ²/2）；只展到一階會漏掉幾何勁度 −mgL，頻率整個偏高。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三個必做的驗證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對稱性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[M]、[K] 必為對稱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量綱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k*/m* 的單位須為 1/s²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6" name="Text 54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退化檢查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g→0 應退回已知解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路線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自由體圖怎麼畫？三個抵抗力永遠指向同一邊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4 牛頓法與自由體圖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慣性力、阻尼力、彈簧力都與位移正向相反，所以移項後在方程式左邊「全是正號」。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剪力屋架逐層切開後，柱剪力在上下兩個自由體中成對出現、方向相反，加總時自然消去。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 Vᵢ = kᵢ(uᵢ − uᵢ₋₁) 之後，[K] 必然是三對角且對稱。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柱勁度取 12EI/h³（兩端固接）還是 3EI/h³（頂端鉸接），差 4 倍 —— 看題目怎麼寫。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牛頓法與剪力屋架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層剪力、逐層平衡與三對角規則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層剪力</a:t>
            </a:r>
            <a:endParaRPr lang="en-US" sz="1300" dirty="0"/>
          </a:p>
        </p:txBody>
      </p:sp>
      <p:pic>
        <p:nvPicPr>
          <p:cNvPr id="7" name="Image 0" descr="/home/claude/sd2/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5703" y="1847088"/>
            <a:ext cx="307331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逐層動平衡</a:t>
            </a:r>
            <a:endParaRPr lang="en-US" sz="1300" dirty="0"/>
          </a:p>
        </p:txBody>
      </p:sp>
      <p:pic>
        <p:nvPicPr>
          <p:cNvPr id="11" name="Image 1" descr="/home/claude/sd2/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162" y="2962656"/>
            <a:ext cx="382839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三對角組裝規則</a:t>
            </a:r>
            <a:endParaRPr lang="en-US" sz="1300" dirty="0"/>
          </a:p>
        </p:txBody>
      </p:sp>
      <p:pic>
        <p:nvPicPr>
          <p:cNvPr id="15" name="Image 2" descr="/home/claude/sd2/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204" y="4078224"/>
            <a:ext cx="711831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柱側向勁度</a:t>
            </a:r>
            <a:endParaRPr lang="en-US" sz="1300" dirty="0"/>
          </a:p>
        </p:txBody>
      </p:sp>
      <p:pic>
        <p:nvPicPr>
          <p:cNvPr id="19" name="Image 3" descr="/home/claude/sd2/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989" y="5193792"/>
            <a:ext cx="6176742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三對角規則的記法：對角項是「上下兩層勁度相加」，非對角項是「上層勁度取負」。最頂層上面沒有柱，所以 Kₙₙ 只有 kₙ。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三層剪力屋架（牛頓法逐層自由體圖）→ [M] 與 [K]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樓層數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層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31566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每層質量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10 tf·s²/m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6974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9901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層間勁度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(4000, 4000, 2000) tf/m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85309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8235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樓高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3.5 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03643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6570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總重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ΣW = 294.3 tf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21978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逐層切開，寫每層的動平衡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1F：m ü₁ + V₁ − V₂ = p₁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2F：m ü₂ + V₂ − V₃ = p₂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3F：m ü₃ + V₃ = p₃（頂層上面沒有柱）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柱剪力在相鄰兩層成對出現、方向相反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1384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代入層剪力定義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56248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V₁ = k₁u₁、V₂ = k₂(u₂−u₁)、V₃ = k₃(u₃−u₂)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1F：m ü₁ + (k₁+k₂)u₁ − k₂u₂ = p₁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2F：m ü₂ − k₂u₁ + (k₂+k₃)u₂ − k₃u₃ = p₂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3F：m ü₃ − k₃u₂ + k₃u₃ = p₃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整理成矩陣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4672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[M] = m·I = diag(10, 10, 10)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[K] 第 1 列：( 8000,  −4000,  0 )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[K] 第 2 列：( −4000,  6000,  −2000 )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[K] 第 3 列：( 0,  −2000,  2000 )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0216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1384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65013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防呆檢查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56248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 ✓　三對角 ✓　K₁₃ = K₃₁ = 0 ✓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1、2 列元素和為 0（剛體平移不產生內力）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非因次化 λ = ω²m/k（k = 2000）：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三個不變量 I₁ = 8、I₂ = 14、I₃ = 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6071616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60716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[M] 為對角、[K] 為三對角對稱；特徵方程 λ³ − 8λ² + 14λ − 4 = 0 → λ = 0.35425 / 2 / 5.64575，T₁ = 0.7465 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本例的 [M]、[K] 將在例題⑤ 用「能量法讀矩陣」重做一次；兩種方法必須得到完全相同的矩陣，這是最好的自我驗算。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路線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Lagrange 為什麼能「快三倍」？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5 Lagrange 為何更快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牛頓法必須把系統拆成每個剛體畫自由體圖，支承反力與鉸內力全都成為額外未知數。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能量法中約束力的作用方向位移恆為零 → 不做功 → 在 T、V、D 裡根本不會出現。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代價只有一個：要正確寫出 T（含轉動動能）與 V（含重力位能），剩下全是微分。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口訣：看到「剛體桿 + 鉸 + 轉動」就別畫自由體圖了。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Lagrange 方程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四個純量寫完就結束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Lagrange 方程</a:t>
            </a:r>
            <a:endParaRPr lang="en-US" sz="1300" dirty="0"/>
          </a:p>
        </p:txBody>
      </p:sp>
      <p:pic>
        <p:nvPicPr>
          <p:cNvPr id="7" name="Image 0" descr="/home/claude/sd2/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172" y="1847088"/>
            <a:ext cx="3460376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動能 T</a:t>
            </a:r>
            <a:endParaRPr lang="en-US" sz="1300" dirty="0"/>
          </a:p>
        </p:txBody>
      </p:sp>
      <p:pic>
        <p:nvPicPr>
          <p:cNvPr id="11" name="Image 1" descr="/home/claude/sd2/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494" y="2962656"/>
            <a:ext cx="2517732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位能 V 與消散函數 D</a:t>
            </a:r>
            <a:endParaRPr lang="en-US" sz="1300" dirty="0"/>
          </a:p>
        </p:txBody>
      </p:sp>
      <p:pic>
        <p:nvPicPr>
          <p:cNvPr id="15" name="Image 2" descr="/home/claude/sd2/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358" y="4078224"/>
            <a:ext cx="409800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廣義力 Q</a:t>
            </a:r>
            <a:endParaRPr lang="en-US" sz="1300" dirty="0"/>
          </a:p>
        </p:txBody>
      </p:sp>
      <p:pic>
        <p:nvPicPr>
          <p:cNvPr id="19" name="Image 3" descr="/home/claude/sd2/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371" y="5193792"/>
            <a:ext cx="385197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保守力（彈簧、重力）寫進 V，不可再放進 Q；黏滯阻尼寫進 D（Rayleigh 消散函數），其餘非保守外力才用虛功法算 Q。這三者重複計入是本路線最常見的失分點。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高頻陷阱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 cosθ 一定要展開到二階？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6 小角度展開與幾何負勁度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勁度來自位能的「二次項」；只展到 cosθ ≈ 1，重力位能就變成常數，完全沒有貢獻。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展到二階後，重力位能給出 −½(mgL)θ² —— 一個負的幾何勁度，把結構變軟。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倒擺（重力在上）為負勁度、單擺（重力在下）為正勁度、水平系統則完全無影響。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 mgL = kL²（即 W = N_cr = kL）時 ω = 0：這就是動力學版本的挫屈判準。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小角度展開與幾何勁度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幾何勁度與軸力對頻率的影響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小角度近似</a:t>
            </a:r>
            <a:endParaRPr lang="en-US" sz="1300" dirty="0"/>
          </a:p>
        </p:txBody>
      </p:sp>
      <p:pic>
        <p:nvPicPr>
          <p:cNvPr id="7" name="Image 0" descr="/home/claude/sd2/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0659" y="1847088"/>
            <a:ext cx="3363402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位能的二次項</a:t>
            </a:r>
            <a:endParaRPr lang="en-US" sz="1300" dirty="0"/>
          </a:p>
        </p:txBody>
      </p:sp>
      <p:pic>
        <p:nvPicPr>
          <p:cNvPr id="11" name="Image 1" descr="/home/claude/sd2/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774" y="2962656"/>
            <a:ext cx="4179171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倒擺頻率</a:t>
            </a:r>
            <a:endParaRPr lang="en-US" sz="1300" dirty="0"/>
          </a:p>
        </p:txBody>
      </p:sp>
      <p:pic>
        <p:nvPicPr>
          <p:cNvPr id="15" name="Image 2" descr="/home/claude/sd2/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71" y="4078224"/>
            <a:ext cx="256297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軸力效應與臨界載重</a:t>
            </a:r>
            <a:endParaRPr lang="en-US" sz="1300" dirty="0"/>
          </a:p>
        </p:txBody>
      </p:sp>
      <p:pic>
        <p:nvPicPr>
          <p:cNvPr id="19" name="Image 3" descr="/home/claude/sd2/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876" y="5193792"/>
            <a:ext cx="320696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幾何勁度 k_G 的正負由「重力（或軸力）使變形加大還是回復」決定。受壓桿件的實測頻率會隨軸力增加而下降 —— 現場用敲擊法量頻率推估軸力，用的就是這條關係。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倒擺：Lagrange + 小角度二階展開，量化幾何負勁度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頂端質量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2000 kg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31566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柱高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3 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6974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9901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側向彈簧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12000 N/m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85309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8235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廣義座標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θ（繞底部鉸）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03643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6570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重力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 = 9.81 m/s²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21978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寫 T 與 V（含重力位能）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½ m(Lθ̇)² = ½ (18000) θ̇²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V_k = ½ k(L sinθ)² ≈ ½ (108000) θ²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V_g = mgL cosθ ≈ mgL − ½ (58860) θ²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重力位能的二次項是「負」的 —— 關鍵在這一步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1384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合併求勁度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56248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kL² − mgL = 108000 − 58860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 = 49140 N·m/rad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m* = mL² = 18000 kg·m²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幾何負勁度吃掉了 54.5% 的彈性勁度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頻率與週期（含 vs 不含重力）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4672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不含重力：ω₀ = √(k/m) = 2.4495 rad/s，T₀ = 2.5651 s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含重力：ω = √(k/m − g/L) = 1.6523 rad/s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3.8028 s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頻率下降 32.55%、週期拉長 48.2%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0216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1384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65013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臨界載重檢核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56248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N_cr = kL = 36000 N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mg = 19620 N → W/N_cr = 0.5450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驗算：ω/ω₀ = √(1 − 0.545) = 0.6745 ✓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 W 再加大到 36 kN，ω = 0 → 系統挫屈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6071616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60716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只展開到一階會算出 T₀ = 2.565 s，實際為 T = 3.803 s —— 週期被低估 32.5%，設計地震力可能因此嚴重失真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路線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廣義單自由度：ψ 什麼時候帶平方、什麼時候帶一次方？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7 廣義單自由度與形函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凡是「能量」（動能、應變能、消散）→ 兩個相同的量相乘 → ψ 帶二次方。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凡是「功」（外力做功）→ 力 × 位移，只有位移含 ψ → ψ 只帶一次方。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用 ψ'' 是因為應變能來自曲率；ψ 本身再大，只要不彎就不儲存應變能。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形函數必須滿足位移邊界條件（ψ(0)=0、ψ'(0)=0），並正規化成 ψ(L)=1 以便 z(t) 就是頂端位移。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廣義單自由度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四個廣義量的積分式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變數分離假設</a:t>
            </a:r>
            <a:endParaRPr lang="en-US" sz="1300" dirty="0"/>
          </a:p>
        </p:txBody>
      </p:sp>
      <p:pic>
        <p:nvPicPr>
          <p:cNvPr id="7" name="Image 0" descr="/home/claude/sd2/formula_imgs/f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4457" y="1847088"/>
            <a:ext cx="519580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廣義質量</a:t>
            </a:r>
            <a:endParaRPr lang="en-US" sz="1300" dirty="0"/>
          </a:p>
        </p:txBody>
      </p:sp>
      <p:pic>
        <p:nvPicPr>
          <p:cNvPr id="11" name="Image 1" descr="/home/claude/sd2/formula_imgs/f7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75" y="2962656"/>
            <a:ext cx="213056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廣義勁度（含幾何項）</a:t>
            </a:r>
            <a:endParaRPr lang="en-US" sz="1300" dirty="0"/>
          </a:p>
        </p:txBody>
      </p:sp>
      <p:pic>
        <p:nvPicPr>
          <p:cNvPr id="15" name="Image 2" descr="/home/claude/sd2/formula_imgs/f7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814" y="4078224"/>
            <a:ext cx="280509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廣義阻尼與外力</a:t>
            </a:r>
            <a:endParaRPr lang="en-US" sz="1300" dirty="0"/>
          </a:p>
        </p:txBody>
      </p:sp>
      <p:pic>
        <p:nvPicPr>
          <p:cNvPr id="19" name="Image 3" descr="/home/claude/sd2/formula_imgs/f7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700" y="5193792"/>
            <a:ext cx="304531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的第二項 −N∫(ψ')²dx 就是連續體版本的幾何負勁度：軸壓力 N 會降低有效勁度，與倒擺的 −mgL 完全同源。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Rayleigh 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 Rayleigh 法算出來的頻率「一定偏高」？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8 Rayleigh 法的上界性質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指定一個形狀 ψ(x)，等於禁止結構用其他形狀振動 —— 相當於加了無限多個額外約束。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約束使結構變硬，勁度被高估，因此頻率恆為上界、週期恆為下界。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挑形函數的實務原則：用「靜力撓曲線」通常最準（本例誤差僅 +1.47%）。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等曲率拋物線雖然滿足邊界條件，但形狀太硬，誤差高達 +27%，考場上不要用。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橋墩：連續體 → 廣義單自由度（ψ = 1 − cos πx/2L）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墩高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10 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31566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撓曲剛度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 = 1.2×10⁹ N·m²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6974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9901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墩身質量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m̄ = 2400 kg/m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85309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8235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上部結構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120 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03643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6570" y="1536192"/>
            <a:ext cx="1944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形函數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 = 1 − cos(πx/2L)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21978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檢查形函數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ψ(0) = 0 ✓（固定端無位移）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ψ'(0) = 0 ✓（固定端無轉角）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ψ(L) = 1 ✓（z(t) 即為墩頂位移）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ψ''(L) = 0（自由端無彎矩，力的邊界條件也滿足）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1384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廣義勁度 k*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56248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ψ'' = (π/2L)² cos(πx/2L)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∫EI(ψ'')²dx = π⁴EI/(32L³) = 3.04403 EI/L³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3.04403 × 1.2×10⁹ / 10³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 = 3.6528×10⁶ N/m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廣義質量 m*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4672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∫ψ²dx = (1.5 − 4/π)L = 0.22676 L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墩身：m̄ × 0.22676L = 5442.3 kg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上部：M ψ(L)² = 120000 kg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m* = 125442.3 kg（墩身只佔 4.34%）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0216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1384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65013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頻率、週期與上界性質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56248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√(k*/m*) = 5.3963 rad/s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2π/ω = 1.1644 s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純桿件時本形狀給係數 3.66388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精確解 3.51602 → 高估 4.205%（上界 ✓）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6071616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60716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3.6528×10⁶ N/m、m* = 125.4 t → T = 1.1644 s；上部結構質量佔 95.7%，墩身分布質量只佔 4.34%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實務提醒：當上部質量遠大於桿件分布質量時，形函數選得好不好影響很小（因為 m* 幾乎由 M 決定）；反之純桿件時形函數的選擇就會直接決定誤差。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步驟四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多自由度的矩陣不要「組裝」，用「讀」的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9 由能量讀出質量與勁度矩陣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與 U 都是廣義座標的二次式；二次式的係數與矩陣元素是一一對應的。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平方項 uᵢ² 的係數 × 2 = 對角項 Kᵢᵢ；交叉項 uᵢ uⱼ 的係數直接就是 Kᵢⱼ（不必再乘 2）。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這個規則對任何座標、任何結構都成立 —— 不限於剪力屋架。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算完立刻檢查對稱性：不對稱代表交叉項係數被多乘或少乘了 2。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矩陣形式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從能量到矩陣，再到 Rayleigh 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能量的二次式形式</a:t>
            </a:r>
            <a:endParaRPr lang="en-US" sz="1300" dirty="0"/>
          </a:p>
        </p:txBody>
      </p:sp>
      <p:pic>
        <p:nvPicPr>
          <p:cNvPr id="7" name="Image 0" descr="/home/claude/sd2/formula_imgs/f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9121" y="1847088"/>
            <a:ext cx="534647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矩陣元素 = 二階偏微分</a:t>
            </a:r>
            <a:endParaRPr lang="en-US" sz="1300" dirty="0"/>
          </a:p>
        </p:txBody>
      </p:sp>
      <p:pic>
        <p:nvPicPr>
          <p:cNvPr id="11" name="Image 1" descr="/home/claude/sd2/formula_imgs/f8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55" y="2962656"/>
            <a:ext cx="309381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多自由度地震方程</a:t>
            </a:r>
            <a:endParaRPr lang="en-US" sz="1300" dirty="0"/>
          </a:p>
        </p:txBody>
      </p:sp>
      <p:pic>
        <p:nvPicPr>
          <p:cNvPr id="15" name="Image 2" descr="/home/claude/sd2/formula_imgs/f8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536" y="4078224"/>
            <a:ext cx="622764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商的上界性質</a:t>
            </a:r>
            <a:endParaRPr lang="en-US" sz="1300" dirty="0"/>
          </a:p>
        </p:txBody>
      </p:sp>
      <p:pic>
        <p:nvPicPr>
          <p:cNvPr id="19" name="Image 3" descr="/home/claude/sd2/formula_imgs/f8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233" y="5193792"/>
            <a:ext cx="6352254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用二階偏微分定義最保險：Mᵢⱼ = ∂²T/∂u̇ᵢ∂u̇ⱼ 自動處理「要不要乘 2」的問題，也自動保證矩陣對稱。手算時用係數法快，檢查時用偏微分法準。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同一棟三層屋架：改用能量法「讀」出 [M] 與 [K]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例題② 的同一棟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86150" y="1536192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每層質量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10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21558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59068" y="1536192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層間勁度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(4000, 4000, 2000)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94476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31986" y="1536192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座標　</a:t>
            </a:r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u₁、u₂、u₃（對地面的絕對位移）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7394" y="1627632"/>
            <a:ext cx="0" cy="274320"/>
          </a:xfrm>
          <a:prstGeom prst="line">
            <a:avLst/>
          </a:prstGeom>
          <a:noFill/>
          <a:ln w="9525">
            <a:solidFill>
              <a:srgbClr val="4C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寫動能 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½m(u̇₁² + u̇₂² + u̇₃²)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沒有交叉項 u̇ᵢ u̇ⱼ → 質量矩陣為對角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平方項係數 ½m × 2 = 10 → M₁₁ = M₂₂ = M₃₃ = 10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（質量集中在樓版時，[M] 恆為對角）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0216" y="21396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0216" y="2139696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1384" y="22860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01384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267712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寫應變能 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56248" y="267004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½[k₁u₁² + k₂(u₂−u₁)² + k₃(u₃−u₂)²]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展開 (u₂−u₁)² = u₂² − 2u₁u₂ + u₁²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u₁² 係數 = ½(k₁+k₂) = 4000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u₁u₂ 係數 = −k₂ = −4000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對號入座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04672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K₁₁ = 係數 × 2 = 8000　K₂₂ = 6000　K₃₃ = 2000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K₁₂ = K₂₁ = 係數（不乘 2）= −4000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K₂₃ = K₃₂ = −2000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中沒有 u₁u₃ 項 → K₁₃ = K₃₁ = 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0216" y="413308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0216" y="413308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01384" y="4279392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3" name="Text 31"/>
          <p:cNvSpPr/>
          <p:nvPr/>
        </p:nvSpPr>
        <p:spPr>
          <a:xfrm>
            <a:off x="650138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26110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與例題② 對照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556248" y="4663440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兩種方法得到完全相同的 [M] 與 [K] ✓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牛頓法：要畫 3 個自由體圖、處理 3 個柱剪力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能量法：只寫 2 個純量式、讀 6 個係數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自由度越多，能量法的優勢越明顯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071616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60716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口訣：平方項係數 × 2 = 對角項；交叉項係數 = 非對角項（不必再乘 2）。算完先檢查對稱性，再往下算特徵值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進階觀念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「耦合」其實是座標選擇的結果，不是結構的性質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10 座標選擇與耦合型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同一根剛性桿：用質心座標得到勁度耦合，用兩端位移得到質量耦合。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耦合只是換了位置，沒有消失 —— 除非座標剛好落在特殊位置（k₁a = k₂b 或 I_G = mab）。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能讓 [M] 與 [K] 同時對角的那組座標，就是「振態座標」，也就是下一個單元的主題。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考試時矩陣對不對角不影響對錯，但一定要對稱 —— 對稱性是唯一必須守住的檢查。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全景整合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一頁總覽：四步驟、三路線、四例題、四道防呆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2/svg/d11 全景圖與四大防呆檢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所有例題的關鍵數字都由同一支 calc.py 覆算並互相驗證，可直接當作自我檢查的標準答案。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四道防呆檢查花不到一分鐘，卻能攔下絕大多數的符號與係數錯誤。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退化檢查最好用：令 g→0、a→0 或 θ→0，方程式應該退回你已經知道答案的簡單情況。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靜態特例檢查同理：把 ü = u̇ = 0 代入，應該回到靜力平衡式 ku = p。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運動方程式推導｜全公式速查 — 基本量、自由度與座標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標準運動方程</a:t>
            </a:r>
            <a:endParaRPr lang="en-US" sz="1050" dirty="0"/>
          </a:p>
        </p:txBody>
      </p:sp>
      <p:pic>
        <p:nvPicPr>
          <p:cNvPr id="7" name="Image 0" descr="/home/claude/sd2/formula_imgs/c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67721"/>
            <a:ext cx="2462022" cy="3931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自然頻率</a:t>
            </a:r>
            <a:endParaRPr lang="en-US" sz="1050" dirty="0"/>
          </a:p>
        </p:txBody>
      </p:sp>
      <p:pic>
        <p:nvPicPr>
          <p:cNvPr id="11" name="Image 1" descr="/home/claude/sd2/formula_imgs/c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354" y="1938528"/>
            <a:ext cx="1969885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週期</a:t>
            </a:r>
            <a:endParaRPr lang="en-US" sz="1050" dirty="0"/>
          </a:p>
        </p:txBody>
      </p:sp>
      <p:pic>
        <p:nvPicPr>
          <p:cNvPr id="15" name="Image 2" descr="/home/claude/sd2/formula_imgs/c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488" y="1938528"/>
            <a:ext cx="1968333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臨界阻尼</a:t>
            </a:r>
            <a:endParaRPr lang="en-US" sz="1050" dirty="0"/>
          </a:p>
        </p:txBody>
      </p:sp>
      <p:pic>
        <p:nvPicPr>
          <p:cNvPr id="19" name="Image 3" descr="/home/claude/sd2/formula_imgs/c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029" y="1938528"/>
            <a:ext cx="2209968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阻尼比</a:t>
            </a:r>
            <a:endParaRPr lang="en-US" sz="1050" dirty="0"/>
          </a:p>
        </p:txBody>
      </p:sp>
      <p:pic>
        <p:nvPicPr>
          <p:cNvPr id="23" name="Image 4" descr="/home/claude/sd2/formula_imgs/c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31" y="3230118"/>
            <a:ext cx="1808216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慣性力（D'Alembert）</a:t>
            </a:r>
            <a:endParaRPr lang="en-US" sz="1050" dirty="0"/>
          </a:p>
        </p:txBody>
      </p:sp>
      <p:pic>
        <p:nvPicPr>
          <p:cNvPr id="27" name="Image 5" descr="/home/claude/sd2/formula_imgs/c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5923" y="3230118"/>
            <a:ext cx="2192747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剛體桿位移內插</a:t>
            </a:r>
            <a:endParaRPr lang="en-US" sz="1050" dirty="0"/>
          </a:p>
        </p:txBody>
      </p:sp>
      <p:pic>
        <p:nvPicPr>
          <p:cNvPr id="31" name="Image 6" descr="/home/claude/sd2/formula_imgs/c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318" y="3230118"/>
            <a:ext cx="2056674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平行軸定理</a:t>
            </a:r>
            <a:endParaRPr lang="en-US" sz="1050" dirty="0"/>
          </a:p>
        </p:txBody>
      </p:sp>
      <p:pic>
        <p:nvPicPr>
          <p:cNvPr id="35" name="Image 7" descr="/home/claude/sd2/formula_imgs/c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284691"/>
            <a:ext cx="2462022" cy="54236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均質桿對端點</a:t>
            </a:r>
            <a:endParaRPr lang="en-US" sz="1050" dirty="0"/>
          </a:p>
        </p:txBody>
      </p:sp>
      <p:pic>
        <p:nvPicPr>
          <p:cNvPr id="39" name="Image 8" descr="/home/claude/sd2/formula_imgs/c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91" y="4521708"/>
            <a:ext cx="1942896" cy="65151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廣義質量（集中）</a:t>
            </a:r>
            <a:endParaRPr lang="en-US" sz="1050" dirty="0"/>
          </a:p>
        </p:txBody>
      </p:sp>
      <p:pic>
        <p:nvPicPr>
          <p:cNvPr id="43" name="Image 9" descr="/home/claude/sd2/formula_imgs/c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536002"/>
            <a:ext cx="2462022" cy="622921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廣義勁度（集中）</a:t>
            </a:r>
            <a:endParaRPr lang="en-US" sz="1050" dirty="0"/>
          </a:p>
        </p:txBody>
      </p:sp>
      <p:pic>
        <p:nvPicPr>
          <p:cNvPr id="47" name="Image 10" descr="/home/claude/sd2/formula_imgs/c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132" y="4521708"/>
            <a:ext cx="2099047" cy="65151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廣義阻尼（集中）</a:t>
            </a:r>
            <a:endParaRPr lang="en-US" sz="1050" dirty="0"/>
          </a:p>
        </p:txBody>
      </p:sp>
      <p:pic>
        <p:nvPicPr>
          <p:cNvPr id="51" name="Image 11" descr="/home/claude/sd2/formula_imgs/c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5980" y="4521708"/>
            <a:ext cx="1990067" cy="65151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靜平衡條件</a:t>
            </a:r>
            <a:endParaRPr lang="en-US" sz="1050" dirty="0"/>
          </a:p>
        </p:txBody>
      </p:sp>
      <p:pic>
        <p:nvPicPr>
          <p:cNvPr id="55" name="Image 12" descr="/home/claude/sd2/formula_imgs/c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961" y="5813298"/>
            <a:ext cx="2143956" cy="65151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絕對 = 相對 + 地表</a:t>
            </a:r>
            <a:endParaRPr lang="en-US" sz="1050" dirty="0"/>
          </a:p>
        </p:txBody>
      </p:sp>
      <p:pic>
        <p:nvPicPr>
          <p:cNvPr id="59" name="Image 13" descr="/home/claude/sd2/formula_imgs/c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94124" y="5813298"/>
            <a:ext cx="2136347" cy="65151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等效地震力</a:t>
            </a:r>
            <a:endParaRPr lang="en-US" sz="1050" dirty="0"/>
          </a:p>
        </p:txBody>
      </p:sp>
      <p:pic>
        <p:nvPicPr>
          <p:cNvPr id="63" name="Image 14" descr="/home/claude/sd2/formula_imgs/c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841602"/>
            <a:ext cx="2462022" cy="594903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層剪力</a:t>
            </a:r>
            <a:endParaRPr lang="en-US" sz="1050" dirty="0"/>
          </a:p>
        </p:txBody>
      </p:sp>
      <p:pic>
        <p:nvPicPr>
          <p:cNvPr id="67" name="Image 15" descr="/home/claude/sd2/formula_imgs/c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5919296"/>
            <a:ext cx="2462022" cy="43951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運動方程式推導｜全公式速查 — 三條路線與矩陣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逐層動平衡</a:t>
            </a:r>
            <a:endParaRPr lang="en-US" sz="1050" dirty="0"/>
          </a:p>
        </p:txBody>
      </p:sp>
      <p:pic>
        <p:nvPicPr>
          <p:cNvPr id="7" name="Image 0" descr="/home/claude/sd2/formula_imgs/c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87869"/>
            <a:ext cx="2462022" cy="3528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對角項</a:t>
            </a:r>
            <a:endParaRPr lang="en-US" sz="1050" dirty="0"/>
          </a:p>
        </p:txBody>
      </p:sp>
      <p:pic>
        <p:nvPicPr>
          <p:cNvPr id="11" name="Image 1" descr="/home/claude/sd2/formula_imgs/c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2014560"/>
            <a:ext cx="2462022" cy="49944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非對角項</a:t>
            </a:r>
            <a:endParaRPr lang="en-US" sz="1050" dirty="0"/>
          </a:p>
        </p:txBody>
      </p:sp>
      <p:pic>
        <p:nvPicPr>
          <p:cNvPr id="15" name="Image 2" descr="/home/claude/sd2/formula_imgs/c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016180"/>
            <a:ext cx="2462022" cy="4962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柱勁度（兩端固接）</a:t>
            </a:r>
            <a:endParaRPr lang="en-US" sz="1050" dirty="0"/>
          </a:p>
        </p:txBody>
      </p:sp>
      <p:pic>
        <p:nvPicPr>
          <p:cNvPr id="19" name="Image 3" descr="/home/claude/sd2/formula_imgs/c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1985165"/>
            <a:ext cx="2462022" cy="55823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柱勁度（頂端鉸接）</a:t>
            </a:r>
            <a:endParaRPr lang="en-US" sz="1050" dirty="0"/>
          </a:p>
        </p:txBody>
      </p:sp>
      <p:pic>
        <p:nvPicPr>
          <p:cNvPr id="23" name="Image 4" descr="/home/claude/sd2/formula_imgs/c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54131"/>
            <a:ext cx="2462022" cy="60348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Lagrange 方程</a:t>
            </a:r>
            <a:endParaRPr lang="en-US" sz="1050" dirty="0"/>
          </a:p>
        </p:txBody>
      </p:sp>
      <p:pic>
        <p:nvPicPr>
          <p:cNvPr id="27" name="Image 5" descr="/home/claude/sd2/formula_imgs/c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331516"/>
            <a:ext cx="2462022" cy="44871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動能 T</a:t>
            </a:r>
            <a:endParaRPr lang="en-US" sz="1050" dirty="0"/>
          </a:p>
        </p:txBody>
      </p:sp>
      <p:pic>
        <p:nvPicPr>
          <p:cNvPr id="31" name="Image 6" descr="/home/claude/sd2/formula_imgs/c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260025"/>
            <a:ext cx="2462022" cy="59169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消散函數 D</a:t>
            </a:r>
            <a:endParaRPr lang="en-US" sz="1050" dirty="0"/>
          </a:p>
        </p:txBody>
      </p:sp>
      <p:pic>
        <p:nvPicPr>
          <p:cNvPr id="35" name="Image 7" descr="/home/claude/sd2/formula_imgs/c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9977" y="3230118"/>
            <a:ext cx="1642071" cy="65151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小角度二階展開</a:t>
            </a:r>
            <a:endParaRPr lang="en-US" sz="1050" dirty="0"/>
          </a:p>
        </p:txBody>
      </p:sp>
      <p:pic>
        <p:nvPicPr>
          <p:cNvPr id="39" name="Image 8" descr="/home/claude/sd2/formula_imgs/c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584722"/>
            <a:ext cx="2462022" cy="525483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幾何負勁度（倒擺）</a:t>
            </a:r>
            <a:endParaRPr lang="en-US" sz="1050" dirty="0"/>
          </a:p>
        </p:txBody>
      </p:sp>
      <p:pic>
        <p:nvPicPr>
          <p:cNvPr id="43" name="Image 9" descr="/home/claude/sd2/formula_imgs/c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538690"/>
            <a:ext cx="2462022" cy="617546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倒擺頻率</a:t>
            </a:r>
            <a:endParaRPr lang="en-US" sz="1050" dirty="0"/>
          </a:p>
        </p:txBody>
      </p:sp>
      <p:pic>
        <p:nvPicPr>
          <p:cNvPr id="47" name="Image 10" descr="/home/claude/sd2/formula_imgs/c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592315"/>
            <a:ext cx="2462022" cy="510295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軸力對頻率的影響</a:t>
            </a:r>
            <a:endParaRPr lang="en-US" sz="1050" dirty="0"/>
          </a:p>
        </p:txBody>
      </p:sp>
      <p:pic>
        <p:nvPicPr>
          <p:cNvPr id="51" name="Image 11" descr="/home/claude/sd2/formula_imgs/c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602087"/>
            <a:ext cx="2462022" cy="49075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變數分離假設</a:t>
            </a:r>
            <a:endParaRPr lang="en-US" sz="1050" dirty="0"/>
          </a:p>
        </p:txBody>
      </p:sp>
      <p:pic>
        <p:nvPicPr>
          <p:cNvPr id="55" name="Image 12" descr="/home/claude/sd2/formula_imgs/c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914367"/>
            <a:ext cx="2462022" cy="449371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廣義質量（連續）</a:t>
            </a:r>
            <a:endParaRPr lang="en-US" sz="1050" dirty="0"/>
          </a:p>
        </p:txBody>
      </p:sp>
      <p:pic>
        <p:nvPicPr>
          <p:cNvPr id="59" name="Image 13" descr="/home/claude/sd2/formula_imgs/c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25699" y="5813298"/>
            <a:ext cx="1673196" cy="65151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廣義勁度（連續）</a:t>
            </a:r>
            <a:endParaRPr lang="en-US" sz="1050" dirty="0"/>
          </a:p>
        </p:txBody>
      </p:sp>
      <p:pic>
        <p:nvPicPr>
          <p:cNvPr id="63" name="Image 14" descr="/home/claude/sd2/formula_imgs/c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3843" y="5813298"/>
            <a:ext cx="1985625" cy="65151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廣義外力（連續）</a:t>
            </a:r>
            <a:endParaRPr lang="en-US" sz="1050" dirty="0"/>
          </a:p>
        </p:txBody>
      </p:sp>
      <p:pic>
        <p:nvPicPr>
          <p:cNvPr id="67" name="Image 15" descr="/home/claude/sd2/formula_imgs/c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72131" y="5813298"/>
            <a:ext cx="1437764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把質量個數當成自由度數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自由度由「約束」決定。軸向剛性連桿會把兩個質量綁成 1 個自由度；一根剛體桿卻可能有平移 + 轉動 2 個自由度。題目有沒有給轉動慣量，是判斷有沒有轉角自由度的關鍵線索。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cosθ 只展開到一階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位能的二次項才是勁度。cosθ ≈ 1 會讓重力位能變成常數，漏掉 −mgL 的幾何負勁度。倒擺例題中，這個錯誤讓週期從 3.803 s 低估成 2.565 s（低估 32.6%）。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廣義量忘了「距離平方」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剛體桿繞軸轉動時，k* = k a²、c* = c b²、m* = Σ m x² + Σ Iᴳ。彈簧與阻尼常裝在不同位置，a 與 b 不可混用；端點質量對轉動慣量的貢獻遠大於桿身。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能量型與功型的 ψ 次方弄反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能量（m*、k*、c*）的 ψ 帶二次方，功（p*）的 ψ 只帶一次方。另外 k* 用的是 ψ''（曲率）不是 ψ —— 應變能來自彎曲，不是來自位移。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交叉項係數多乘了 2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平方項 uᵢ² 的係數要 × 2 才是 Kᵢᵢ，但交叉項 uᵢ uⱼ 的係數「直接」就是 Kᵢⱼ。多乘一次會讓矩陣失去對稱 —— 這也是為什麼算完一定要檢查對稱性。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保守力重複計入 Q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彈簧與重力已經寫在 V 裡、黏滯阻尼已經寫在 D 裡，都不可以再放進廣義力 Q。Q 只收「其餘的非保守外力」，用虛功 δW = Q δq 求得。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運動方程式推導｜重點回顧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底層物理只有一句話：慣性力 + 阻尼力 + 恢復力 = 外力；三條路線只是把這句話寫下來的三種語言。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四步驟 SOP：數自由度（看約束）→ 選座標（靜平衡／相對位移）→ 選路線 → 整理矩陣，順序不可顛倒。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路線判準：有剛體桿與鉸約束就用 Lagrange（約束力不做功而自動消失），沒有就畫自由體圖用牛頓法。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重力位能必須展開到二階；倒擺會產生幾何負勁度 −mgL，使頻率下降，極限即為挫屈（N_cr = kL）。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多自由度不要逐項組裝矩陣：T 與 U 的二次式係數就是 [M] 與 [K]，算完立刻檢查對稱性與量綱。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觀念講義</dc:creator>
  <cp:lastModifiedBy>觀念講義</cp:lastModifiedBy>
  <cp:revision>1</cp:revision>
  <dcterms:created xsi:type="dcterms:W3CDTF">2026-09-16T07:35:48Z</dcterms:created>
  <dcterms:modified xsi:type="dcterms:W3CDTF">2026-09-16T07:35:48Z</dcterms:modified>
</cp:coreProperties>
</file>